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Separate jobs</c:v>
                </c:pt>
              </c:strCache>
            </c:strRef>
          </c:tx>
          <c:spPr>
            <a:solidFill>
              <a:srgbClr val="8AA0B8"/>
            </a:solidFill>
          </c:spPr>
          <c:cat>
            <c:strRef>
              <c:f>Sheet1!$A$2:$A$4</c:f>
              <c:strCache>
                <c:ptCount val="3"/>
                <c:pt idx="0">
                  <c:v>S1  DN Fast</c:v>
                </c:pt>
                <c:pt idx="1">
                  <c:v>S2  DN</c:v>
                </c:pt>
                <c:pt idx="2">
                  <c:v>S3  Mid</c:v>
                </c:pt>
              </c:strCache>
            </c:strRef>
          </c:cat>
          <c:val>
            <c:numRef>
              <c:f>Sheet1!$B$2:$B$4</c:f>
              <c:numCache>
                <c:formatCode>General</c:formatCode>
                <c:ptCount val="3"/>
                <c:pt idx="0">
                  <c:v>150</c:v>
                </c:pt>
                <c:pt idx="1">
                  <c:v>180</c:v>
                </c:pt>
                <c:pt idx="2">
                  <c:v>120</c:v>
                </c:pt>
              </c:numCache>
            </c:numRef>
          </c:val>
        </c:ser>
        <c:ser>
          <c:idx val="1"/>
          <c:order val="1"/>
          <c:tx>
            <c:strRef>
              <c:f>Sheet1!$C$1</c:f>
              <c:strCache>
                <c:ptCount val="1"/>
                <c:pt idx="0">
                  <c:v>One bundle</c:v>
                </c:pt>
              </c:strCache>
            </c:strRef>
          </c:tx>
          <c:spPr>
            <a:solidFill>
              <a:srgbClr val="1E6B45"/>
            </a:solidFill>
          </c:spPr>
          <c:cat>
            <c:strRef>
              <c:f>Sheet1!$A$2:$A$4</c:f>
              <c:strCache>
                <c:ptCount val="3"/>
                <c:pt idx="0">
                  <c:v>S1  DN Fast</c:v>
                </c:pt>
                <c:pt idx="1">
                  <c:v>S2  DN</c:v>
                </c:pt>
                <c:pt idx="2">
                  <c:v>S3  Mid</c:v>
                </c:pt>
              </c:strCache>
            </c:strRef>
          </c:cat>
          <c:val>
            <c:numRef>
              <c:f>Sheet1!$C$2:$C$4</c:f>
              <c:numCache>
                <c:formatCode>General</c:formatCode>
                <c:ptCount val="3"/>
                <c:pt idx="0">
                  <c:v>105</c:v>
                </c:pt>
                <c:pt idx="1">
                  <c:v>135</c:v>
                </c:pt>
                <c:pt idx="2">
                  <c:v>90</c:v>
                </c:pt>
              </c:numCache>
            </c:numRef>
          </c:val>
        </c:ser>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200.0"/>
          <c:min val="0.0"/>
        </c:scaling>
        <c:delete val="0"/>
        <c:axPos val="l"/>
        <c:majorGridlines/>
        <c:title>
          <c:tx>
            <c:rich>
              <a:bodyPr/>
              <a:lstStyle/>
              <a:p>
                <a:pPr>
                  <a:defRPr sz="1100">
                    <a:latin typeface="Arial"/>
                  </a:defRPr>
                </a:pPr>
                <a:r>
                  <a:t>Job minutes</a:t>
                </a:r>
              </a:p>
            </c:rich>
          </c:tx>
          <c:layout/>
          <c:overlay val="0"/>
        </c:title>
        <c:majorTickMark val="out"/>
        <c:minorTickMark val="none"/>
        <c:tickLblPos val="nextTo"/>
        <c:crossAx val="-2068027336"/>
        <c:crosses val="autoZero"/>
      </c:valAx>
    </c:plotArea>
    <c:legend>
      <c:legendPos val="b"/>
      <c:overlay val="0"/>
    </c:legend>
    <c:dispBlanksAs val="gap"/>
  </c:chart>
  <c:txPr>
    <a:bodyPr/>
    <a:lstStyle/>
    <a:p>
      <a:pPr>
        <a:defRPr sz="12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title only. Say that the level and the slot or code number will be the ones issued at registration, and that you will introduce yourself by that number. Do not say your name, college, department, or team. Give the title once, slowly: integrated railway maintenance prioritisation and constraint-based block planning for asset availability. Then move on. About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coordination, not a claim that the railway has no maintenance process. Track, traction, and signalling each keep their own defect lists — TMS, SMMS, and TDMS — and each asks for a block through BDMS. The control office application holds the corridor, and the working timetable is another document. Smart India Hackathon problem statement 26027, from the Ministry of Railways, describes that split as a cause of poor block use.</a:t>
            </a:r>
          </a:p>
          <a:p/>
          <a:p>
            <a:r>
              <a:t>Put the punctuality figures in their population and years. For Mail and Express trains on Indian Railways, Lok Sabha Unstarred Question 3976, answered on 12 August 2026, gives 73.62 percent in 2023–24 and 77.12 percent in 2024–25. The same reply gives 77.43 percent for 2025–26. Asset maintenance is one of the causes the Ministry lists, alongside fog, path constraints, alarm-chain pulling, and other events. Do not say punctuality is falling. It moved up between those two full years.</a:t>
            </a:r>
          </a:p>
          <a:p/>
          <a:p>
            <a:r>
              <a:t>The older audit is historical. CAG Report 45 of 2017, tabled in March 2018, looked at selected heavy-traffic sections. At the exit conference in August 2017, Railway Board said non-availability of blocks was the main reason deep screening in those observations was overdue. That is not a figure for today’s network.</a:t>
            </a:r>
          </a:p>
          <a:p/>
          <a:p>
            <a:r>
              <a:t>The research question is whether one prototype can keep three judgements separate: an explainable urgency score, a separate forecast of days to a critical severity, and a block window that a person still approves. Mention Rolling Block, notified on 30 November 2023, as the operating idea this work lines up with: integrated maintenance planned ahead, not invented on the day. About 70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from the top. The five names are the feeds the problem statement asks for. In this build they are readers for export files and a locally encoded CSMT to Pune corridor of 192 kilometres. Say clearly that production endpoints are not connected.</a:t>
            </a:r>
          </a:p>
          <a:p/>
          <a:p>
            <a:r>
              <a:t>Then the seven steps. Reading and checking rejects a bad row without dropping the whole file. AI-1 is the report reader. On an ordinary upload it uses local sentence rules. It proposes a finding only when the wording matches a known defect phrase, and a second check keeps the finding only when the quoted words are actually on the page. A person applies the complete rows. It is not a trained generative model, and it does not score urgency.</a:t>
            </a:r>
          </a:p>
          <a:p/>
          <a:p>
            <a:r>
              <a:t>Formula 1 then scores the open job. Beside it, a gradient-boosting model estimates days until severity reaches 80. Those two numbers stay separate. Formula 2 groups jobs on the same running line and the same power feeder when the next defect is within 3 kilometres. Google OR-Tools CP-SAT searches for a window that satisfies the hard rules. The dashboard shows the result for a person to sanction. About 80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contribution, so do not read every box. Say that a scheduling screen by itself is not the claim. The claim is that the steps stay inspectable and still fit together.</a:t>
            </a:r>
          </a:p>
          <a:p/>
          <a:p>
            <a:r>
              <a:t>Formula 1 is written down. Safety comes from severity, then overdue days, then whether a temporary speed restriction is already on, then a traffic index for that line. The console shows a score from 0 to 100. The solver can keep the unclipped score so two severe jobs do not look identical.</a:t>
            </a:r>
          </a:p>
          <a:p/>
          <a:p>
            <a:r>
              <a:t>The machine-learning piece does not replace that score. It forecasts days to criticality. Say, if asked, that the labels are synthetic. Do not quote R-squared as field accuracy; that belongs with the limits.</a:t>
            </a:r>
          </a:p>
          <a:p/>
          <a:p>
            <a:r>
              <a:t>Formula 2 is how repeated mobilisation is reduced: one possession instead of one visit per job. CP-SAT is how the possession is allowed onto the timetable. Rule A keeps a train and a gang out of the same place at the same time. Rule B gives Premium and Superfast trains no induced delay. Rule C caps delay for other types. The machine pool in the model is one ballast cleaner, two tie tampers, and two tower wagons. A power block also requires isolation.</a:t>
            </a:r>
          </a:p>
          <a:p/>
          <a:p>
            <a:r>
              <a:t>The three policies — Punctuality-First, Asset-First, and Mega-Block — change the weights. They do not hide a single answer. AI-1’s job ends when a reviewed record enters the backlog. About 70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test conditions before the percentages. The corridor is a 192 kilometre encoded model from CSMT to Pune Junction. The timetable is a 24-hour model of 170 services, not a live control-office feed. The backlog is 14 encoded demonstration defects, grouped into 11 bundles. The console’s live list actually starts empty until someone applies a reviewed report. These 14 defects are the demonstration catalog used for the test.</a:t>
            </a:r>
          </a:p>
          <a:p/>
          <a:p>
            <a:r>
              <a:t>The chart is Formula 2 on the three clusters that contain more than one defect. If each job kept its own duration, the minutes are 150, 180, and 120. Bundled, using the longest job plus 15 minutes, they are 105, 135, and 90. Together that is 450 minutes against 330, so 120 minutes, or 26.7 percent, of those job minutes. These are maintenance-work minutes in the model. They are not measured minutes of train delay on the ground.</a:t>
            </a:r>
          </a:p>
          <a:p/>
          <a:p>
            <a:r>
              <a:t>The week result is one simulation, from 24 September 2026 through seven days. Ten of the 14 defects were placed in a feasible window. Four were left for later. Where a night window could not hold a job, the solver reported infeasible and the plan moved or split the work rather than forcing the train conflict. Do not call this a field week. About 80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four sentences. The prototype demonstrates a path from separate records to a block a person can defend. The contribution is the split between evidence-backed reading, explainable urgency, a separate forecast, spatial bundling, and constraint solving. The important limits are local demo inputs, a rule-based report reader, and a forecast that has not seen real defect histories. The next evidence is authorised access, a shadow-mode comparison against today’s block decisions, and a held-out set of real reports.</a:t>
            </a:r>
          </a:p>
          <a:p/>
          <a:p>
            <a:r>
              <a:t>If there is time, point at the four references and stop. Do not add a name or a team. Leave the last seconds for the judges. About 60 seconds. The whole talk should finish inside seven minutes, with the warning bell in mind at six.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420624"/>
          </a:xfrm>
          <a:prstGeom prst="rect">
            <a:avLst/>
          </a:prstGeom>
          <a:noFill/>
        </p:spPr>
        <p:txBody>
          <a:bodyPr wrap="square" lIns="0" rIns="0" tIns="0" bIns="0" anchor="t"/>
          <a:lstStyle/>
          <a:p>
            <a:pPr algn="l">
              <a:spcBef>
                <a:spcPts val="0"/>
              </a:spcBef>
              <a:spcAft>
                <a:spcPts val="0"/>
              </a:spcAft>
            </a:pPr>
            <a:r>
              <a:rPr sz="3200" b="1" i="0">
                <a:solidFill>
                  <a:srgbClr val="FFFFFF"/>
                </a:solidFill>
                <a:latin typeface="Times New Roman"/>
                <a:ea typeface="Times New Roman"/>
                <a:cs typeface="Times New Roman"/>
              </a:rPr>
              <a:t>AAVISHKAR</a:t>
            </a:r>
          </a:p>
        </p:txBody>
      </p:sp>
      <p:sp>
        <p:nvSpPr>
          <p:cNvPr id="4" name="TextBox 3"/>
          <p:cNvSpPr txBox="1"/>
          <p:nvPr/>
        </p:nvSpPr>
        <p:spPr>
          <a:xfrm>
            <a:off x="566928" y="768096"/>
            <a:ext cx="9144000" cy="256032"/>
          </a:xfrm>
          <a:prstGeom prst="rect">
            <a:avLst/>
          </a:prstGeom>
          <a:noFill/>
        </p:spPr>
        <p:txBody>
          <a:bodyPr wrap="square" lIns="0" rIns="0" tIns="0" bIns="0" anchor="t"/>
          <a:lstStyle/>
          <a:p>
            <a:pPr algn="l">
              <a:spcBef>
                <a:spcPts val="0"/>
              </a:spcBef>
              <a:spcAft>
                <a:spcPts val="0"/>
              </a:spcAft>
            </a:pPr>
            <a:r>
              <a:rPr sz="1600" b="0" i="0">
                <a:solidFill>
                  <a:srgbClr val="D6E2EE"/>
                </a:solidFill>
                <a:latin typeface="Arial"/>
                <a:ea typeface="Arial"/>
                <a:cs typeface="Arial"/>
              </a:rPr>
              <a:t>Research Convention</a:t>
            </a:r>
          </a:p>
        </p:txBody>
      </p:sp>
      <p:sp>
        <p:nvSpPr>
          <p:cNvPr id="5" name="TextBox 4"/>
          <p:cNvSpPr txBox="1"/>
          <p:nvPr/>
        </p:nvSpPr>
        <p:spPr>
          <a:xfrm>
            <a:off x="548640" y="1554480"/>
            <a:ext cx="10972800" cy="256032"/>
          </a:xfrm>
          <a:prstGeom prst="rect">
            <a:avLst/>
          </a:prstGeom>
          <a:noFill/>
        </p:spPr>
        <p:txBody>
          <a:bodyPr wrap="square" lIns="0" rIns="0" tIns="0" bIns="0" anchor="t"/>
          <a:lstStyle/>
          <a:p>
            <a:pPr algn="l">
              <a:spcBef>
                <a:spcPts val="0"/>
              </a:spcBef>
              <a:spcAft>
                <a:spcPts val="0"/>
              </a:spcAft>
            </a:pPr>
            <a:r>
              <a:rPr sz="1400" b="1" i="0">
                <a:solidFill>
                  <a:srgbClr val="0F6E6B"/>
                </a:solidFill>
                <a:latin typeface="Arial"/>
                <a:ea typeface="Arial"/>
                <a:cs typeface="Arial"/>
              </a:rPr>
              <a:t>Title of the research project</a:t>
            </a:r>
          </a:p>
        </p:txBody>
      </p:sp>
      <p:sp>
        <p:nvSpPr>
          <p:cNvPr id="6" name="TextBox 5"/>
          <p:cNvSpPr txBox="1"/>
          <p:nvPr/>
        </p:nvSpPr>
        <p:spPr>
          <a:xfrm>
            <a:off x="548640" y="1874519"/>
            <a:ext cx="11064240" cy="1554480"/>
          </a:xfrm>
          <a:prstGeom prst="rect">
            <a:avLst/>
          </a:prstGeom>
          <a:noFill/>
        </p:spPr>
        <p:txBody>
          <a:bodyPr wrap="square" lIns="0" rIns="0" tIns="0" bIns="0" anchor="t"/>
          <a:lstStyle/>
          <a:p>
            <a:pPr algn="l">
              <a:spcBef>
                <a:spcPts val="0"/>
              </a:spcBef>
              <a:spcAft>
                <a:spcPts val="0"/>
              </a:spcAft>
            </a:pPr>
            <a:r>
              <a:rPr sz="3200" b="1" i="0">
                <a:solidFill>
                  <a:srgbClr val="1E3A5F"/>
                </a:solidFill>
                <a:latin typeface="Times New Roman"/>
                <a:ea typeface="Times New Roman"/>
                <a:cs typeface="Times New Roman"/>
              </a:rPr>
              <a:t>Integrated Railway Maintenance Prioritization and Constraint-Based Block Planning for Asset Availability</a:t>
            </a:r>
          </a:p>
        </p:txBody>
      </p:sp>
      <p:sp>
        <p:nvSpPr>
          <p:cNvPr id="7" name="Rectangle 6"/>
          <p:cNvSpPr/>
          <p:nvPr/>
        </p:nvSpPr>
        <p:spPr>
          <a:xfrm>
            <a:off x="548640" y="3794760"/>
            <a:ext cx="3566160" cy="1691640"/>
          </a:xfrm>
          <a:prstGeom prst="rect">
            <a:avLst/>
          </a:prstGeom>
          <a:solidFill>
            <a:srgbClr val="EAF2F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950208"/>
            <a:ext cx="3200400" cy="274320"/>
          </a:xfrm>
          <a:prstGeom prst="rect">
            <a:avLst/>
          </a:prstGeom>
          <a:noFill/>
        </p:spPr>
        <p:txBody>
          <a:bodyPr wrap="square" lIns="0" rIns="0" tIns="0" bIns="0" anchor="t"/>
          <a:lstStyle/>
          <a:p>
            <a:pPr algn="l">
              <a:spcBef>
                <a:spcPts val="0"/>
              </a:spcBef>
              <a:spcAft>
                <a:spcPts val="0"/>
              </a:spcAft>
            </a:pPr>
            <a:r>
              <a:rPr sz="1300" b="1" i="0">
                <a:solidFill>
                  <a:srgbClr val="0F6E6B"/>
                </a:solidFill>
                <a:latin typeface="Arial"/>
                <a:ea typeface="Arial"/>
                <a:cs typeface="Arial"/>
              </a:rPr>
              <a:t>Category</a:t>
            </a:r>
          </a:p>
        </p:txBody>
      </p:sp>
      <p:sp>
        <p:nvSpPr>
          <p:cNvPr id="9" name="TextBox 8"/>
          <p:cNvSpPr txBox="1"/>
          <p:nvPr/>
        </p:nvSpPr>
        <p:spPr>
          <a:xfrm>
            <a:off x="731520" y="4343400"/>
            <a:ext cx="3200400" cy="822960"/>
          </a:xfrm>
          <a:prstGeom prst="rect">
            <a:avLst/>
          </a:prstGeom>
          <a:noFill/>
        </p:spPr>
        <p:txBody>
          <a:bodyPr wrap="square" lIns="0" rIns="0" tIns="0" bIns="0" anchor="t"/>
          <a:lstStyle/>
          <a:p>
            <a:pPr algn="l">
              <a:spcBef>
                <a:spcPts val="0"/>
              </a:spcBef>
              <a:spcAft>
                <a:spcPts val="0"/>
              </a:spcAft>
            </a:pPr>
            <a:r>
              <a:rPr sz="2200" b="1" i="0">
                <a:solidFill>
                  <a:srgbClr val="1E3A5F"/>
                </a:solidFill>
                <a:latin typeface="Times New Roman"/>
                <a:ea typeface="Times New Roman"/>
                <a:cs typeface="Times New Roman"/>
              </a:rPr>
              <a:t>5 — Engineering and Technology</a:t>
            </a:r>
          </a:p>
        </p:txBody>
      </p:sp>
      <p:sp>
        <p:nvSpPr>
          <p:cNvPr id="10" name="Rectangle 9"/>
          <p:cNvSpPr/>
          <p:nvPr/>
        </p:nvSpPr>
        <p:spPr>
          <a:xfrm>
            <a:off x="4343400" y="3794760"/>
            <a:ext cx="3566160" cy="1691640"/>
          </a:xfrm>
          <a:prstGeom prst="rect">
            <a:avLst/>
          </a:prstGeom>
          <a:solidFill>
            <a:srgbClr val="EAF2F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950208"/>
            <a:ext cx="3200400" cy="274320"/>
          </a:xfrm>
          <a:prstGeom prst="rect">
            <a:avLst/>
          </a:prstGeom>
          <a:noFill/>
        </p:spPr>
        <p:txBody>
          <a:bodyPr wrap="square" lIns="0" rIns="0" tIns="0" bIns="0" anchor="t"/>
          <a:lstStyle/>
          <a:p>
            <a:pPr algn="l">
              <a:spcBef>
                <a:spcPts val="0"/>
              </a:spcBef>
              <a:spcAft>
                <a:spcPts val="0"/>
              </a:spcAft>
            </a:pPr>
            <a:r>
              <a:rPr sz="1300" b="1" i="0">
                <a:solidFill>
                  <a:srgbClr val="0F6E6B"/>
                </a:solidFill>
                <a:latin typeface="Arial"/>
                <a:ea typeface="Arial"/>
                <a:cs typeface="Arial"/>
              </a:rPr>
              <a:t>Level</a:t>
            </a:r>
          </a:p>
        </p:txBody>
      </p:sp>
      <p:sp>
        <p:nvSpPr>
          <p:cNvPr id="12" name="TextBox 11"/>
          <p:cNvSpPr txBox="1"/>
          <p:nvPr/>
        </p:nvSpPr>
        <p:spPr>
          <a:xfrm>
            <a:off x="4526280" y="4343400"/>
            <a:ext cx="3200400" cy="822960"/>
          </a:xfrm>
          <a:prstGeom prst="rect">
            <a:avLst/>
          </a:prstGeom>
          <a:noFill/>
        </p:spPr>
        <p:txBody>
          <a:bodyPr wrap="square" lIns="0" rIns="0" tIns="0" bIns="0" anchor="t"/>
          <a:lstStyle/>
          <a:p>
            <a:pPr algn="l">
              <a:spcBef>
                <a:spcPts val="0"/>
              </a:spcBef>
              <a:spcAft>
                <a:spcPts val="0"/>
              </a:spcAft>
            </a:pPr>
            <a:r>
              <a:rPr sz="2200" b="1" i="0">
                <a:solidFill>
                  <a:srgbClr val="1E3A5F"/>
                </a:solidFill>
                <a:latin typeface="Times New Roman"/>
                <a:ea typeface="Times New Roman"/>
                <a:cs typeface="Times New Roman"/>
              </a:rPr>
              <a:t>________________</a:t>
            </a:r>
          </a:p>
        </p:txBody>
      </p:sp>
      <p:sp>
        <p:nvSpPr>
          <p:cNvPr id="13" name="Rectangle 12"/>
          <p:cNvSpPr/>
          <p:nvPr/>
        </p:nvSpPr>
        <p:spPr>
          <a:xfrm>
            <a:off x="8138160" y="3794760"/>
            <a:ext cx="3566160" cy="1691640"/>
          </a:xfrm>
          <a:prstGeom prst="rect">
            <a:avLst/>
          </a:prstGeom>
          <a:solidFill>
            <a:srgbClr val="EAF2F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3950208"/>
            <a:ext cx="3200400" cy="274320"/>
          </a:xfrm>
          <a:prstGeom prst="rect">
            <a:avLst/>
          </a:prstGeom>
          <a:noFill/>
        </p:spPr>
        <p:txBody>
          <a:bodyPr wrap="square" lIns="0" rIns="0" tIns="0" bIns="0" anchor="t"/>
          <a:lstStyle/>
          <a:p>
            <a:pPr algn="l">
              <a:spcBef>
                <a:spcPts val="0"/>
              </a:spcBef>
              <a:spcAft>
                <a:spcPts val="0"/>
              </a:spcAft>
            </a:pPr>
            <a:r>
              <a:rPr sz="1300" b="1" i="0">
                <a:solidFill>
                  <a:srgbClr val="0F6E6B"/>
                </a:solidFill>
                <a:latin typeface="Arial"/>
                <a:ea typeface="Arial"/>
                <a:cs typeface="Arial"/>
              </a:rPr>
              <a:t>Slot / Code No.</a:t>
            </a:r>
          </a:p>
        </p:txBody>
      </p:sp>
      <p:sp>
        <p:nvSpPr>
          <p:cNvPr id="15" name="TextBox 14"/>
          <p:cNvSpPr txBox="1"/>
          <p:nvPr/>
        </p:nvSpPr>
        <p:spPr>
          <a:xfrm>
            <a:off x="8321040" y="4343400"/>
            <a:ext cx="3200400" cy="822960"/>
          </a:xfrm>
          <a:prstGeom prst="rect">
            <a:avLst/>
          </a:prstGeom>
          <a:noFill/>
        </p:spPr>
        <p:txBody>
          <a:bodyPr wrap="square" lIns="0" rIns="0" tIns="0" bIns="0" anchor="t"/>
          <a:lstStyle/>
          <a:p>
            <a:pPr algn="l">
              <a:spcBef>
                <a:spcPts val="0"/>
              </a:spcBef>
              <a:spcAft>
                <a:spcPts val="0"/>
              </a:spcAft>
            </a:pPr>
            <a:r>
              <a:rPr sz="2200" b="1" i="0">
                <a:solidFill>
                  <a:srgbClr val="1E3A5F"/>
                </a:solidFill>
                <a:latin typeface="Times New Roman"/>
                <a:ea typeface="Times New Roman"/>
                <a:cs typeface="Times New Roman"/>
              </a:rPr>
              <a:t>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01168"/>
            <a:ext cx="11247120" cy="219456"/>
          </a:xfrm>
          <a:prstGeom prst="rect">
            <a:avLst/>
          </a:prstGeom>
          <a:noFill/>
        </p:spPr>
        <p:txBody>
          <a:bodyPr wrap="square" lIns="0" rIns="0" tIns="0" bIns="0" anchor="t"/>
          <a:lstStyle/>
          <a:p>
            <a:pPr algn="l">
              <a:spcBef>
                <a:spcPts val="0"/>
              </a:spcBef>
              <a:spcAft>
                <a:spcPts val="0"/>
              </a:spcAft>
            </a:pPr>
            <a:r>
              <a:rPr sz="1200" b="1" i="0">
                <a:solidFill>
                  <a:srgbClr val="0F6E6B"/>
                </a:solidFill>
                <a:latin typeface="Arial"/>
                <a:ea typeface="Arial"/>
                <a:cs typeface="Arial"/>
              </a:rPr>
              <a:t>PROBLEM AND OBJECTIVE</a:t>
            </a:r>
          </a:p>
        </p:txBody>
      </p:sp>
      <p:sp>
        <p:nvSpPr>
          <p:cNvPr id="3" name="TextBox 2"/>
          <p:cNvSpPr txBox="1"/>
          <p:nvPr/>
        </p:nvSpPr>
        <p:spPr>
          <a:xfrm>
            <a:off x="438912" y="402336"/>
            <a:ext cx="11247120" cy="438912"/>
          </a:xfrm>
          <a:prstGeom prst="rect">
            <a:avLst/>
          </a:prstGeom>
          <a:noFill/>
        </p:spPr>
        <p:txBody>
          <a:bodyPr wrap="square" lIns="0" rIns="0" tIns="0" bIns="0" anchor="t"/>
          <a:lstStyle/>
          <a:p>
            <a:pPr algn="l">
              <a:spcBef>
                <a:spcPts val="0"/>
              </a:spcBef>
              <a:spcAft>
                <a:spcPts val="0"/>
              </a:spcAft>
            </a:pPr>
            <a:r>
              <a:rPr sz="2800" b="1" i="0">
                <a:solidFill>
                  <a:srgbClr val="1E3A5F"/>
                </a:solidFill>
                <a:latin typeface="Times New Roman"/>
                <a:ea typeface="Times New Roman"/>
                <a:cs typeface="Times New Roman"/>
              </a:rPr>
              <a:t>Maintenance is still requested department by department</a:t>
            </a:r>
          </a:p>
        </p:txBody>
      </p:sp>
      <p:sp>
        <p:nvSpPr>
          <p:cNvPr id="4" name="Rectangle 3"/>
          <p:cNvSpPr/>
          <p:nvPr/>
        </p:nvSpPr>
        <p:spPr>
          <a:xfrm>
            <a:off x="438912" y="932688"/>
            <a:ext cx="11301984" cy="15875"/>
          </a:xfrm>
          <a:prstGeom prst="rect">
            <a:avLst/>
          </a:prstGeom>
          <a:solidFill>
            <a:srgbClr val="D5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8912" y="1170432"/>
            <a:ext cx="3657600" cy="4160520"/>
          </a:xfrm>
          <a:prstGeom prst="rect">
            <a:avLst/>
          </a:prstGeom>
          <a:solidFill>
            <a:srgbClr val="F8EEEE"/>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1170432"/>
            <a:ext cx="73152" cy="4160520"/>
          </a:xfrm>
          <a:prstGeom prst="rect">
            <a:avLst/>
          </a:prstGeom>
          <a:solidFill>
            <a:srgbClr val="8C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3291840" cy="640080"/>
          </a:xfrm>
          <a:prstGeom prst="rect">
            <a:avLst/>
          </a:prstGeom>
          <a:noFill/>
        </p:spPr>
        <p:txBody>
          <a:bodyPr wrap="square" lIns="0" rIns="0" tIns="0" bIns="0" anchor="t"/>
          <a:lstStyle/>
          <a:p>
            <a:pPr algn="l">
              <a:spcBef>
                <a:spcPts val="0"/>
              </a:spcBef>
              <a:spcAft>
                <a:spcPts val="0"/>
              </a:spcAft>
            </a:pPr>
            <a:r>
              <a:rPr sz="2000" b="1" i="0">
                <a:solidFill>
                  <a:srgbClr val="1E3A5F"/>
                </a:solidFill>
                <a:latin typeface="Times New Roman"/>
                <a:ea typeface="Times New Roman"/>
                <a:cs typeface="Times New Roman"/>
              </a:rPr>
              <a:t>What is fragmented</a:t>
            </a:r>
          </a:p>
        </p:txBody>
      </p:sp>
      <p:sp>
        <p:nvSpPr>
          <p:cNvPr id="8" name="TextBox 7"/>
          <p:cNvSpPr txBox="1"/>
          <p:nvPr/>
        </p:nvSpPr>
        <p:spPr>
          <a:xfrm>
            <a:off x="658368" y="2057400"/>
            <a:ext cx="3273552" cy="3017520"/>
          </a:xfrm>
          <a:prstGeom prst="rect">
            <a:avLst/>
          </a:prstGeom>
          <a:noFill/>
        </p:spPr>
        <p:txBody>
          <a:bodyPr wrap="square" lIns="0" rIns="0" tIns="0" bIns="0" anchor="t"/>
          <a:lstStyle/>
          <a:p>
            <a:pPr algn="l">
              <a:spcBef>
                <a:spcPts val="0"/>
              </a:spcBef>
              <a:spcAft>
                <a:spcPts val="0"/>
              </a:spcAft>
            </a:pPr>
            <a:r>
              <a:rPr sz="1500" b="0" i="0">
                <a:solidFill>
                  <a:srgbClr val="243140"/>
                </a:solidFill>
                <a:latin typeface="Arial"/>
                <a:ea typeface="Arial"/>
                <a:cs typeface="Arial"/>
              </a:rPr>
              <a:t>Engineering, traction, and signalling keep defect records in TMS, SMMS, and TDMS. Each department asks for its own block through BDMS. COA holds corridor availability. The timetable is a separate document. [1]</a:t>
            </a:r>
          </a:p>
        </p:txBody>
      </p:sp>
      <p:sp>
        <p:nvSpPr>
          <p:cNvPr id="9" name="Rectangle 8"/>
          <p:cNvSpPr/>
          <p:nvPr/>
        </p:nvSpPr>
        <p:spPr>
          <a:xfrm>
            <a:off x="4279392" y="1170432"/>
            <a:ext cx="3657600" cy="4160520"/>
          </a:xfrm>
          <a:prstGeom prst="rect">
            <a:avLst/>
          </a:prstGeom>
          <a:solidFill>
            <a:srgbClr val="FBF6EA"/>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79392" y="1170432"/>
            <a:ext cx="73152" cy="4160520"/>
          </a:xfrm>
          <a:prstGeom prst="rect">
            <a:avLst/>
          </a:prstGeom>
          <a:solidFill>
            <a:srgbClr val="8A5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1316736"/>
            <a:ext cx="3291840" cy="640080"/>
          </a:xfrm>
          <a:prstGeom prst="rect">
            <a:avLst/>
          </a:prstGeom>
          <a:noFill/>
        </p:spPr>
        <p:txBody>
          <a:bodyPr wrap="square" lIns="0" rIns="0" tIns="0" bIns="0" anchor="t"/>
          <a:lstStyle/>
          <a:p>
            <a:pPr algn="l">
              <a:spcBef>
                <a:spcPts val="0"/>
              </a:spcBef>
              <a:spcAft>
                <a:spcPts val="0"/>
              </a:spcAft>
            </a:pPr>
            <a:r>
              <a:rPr sz="2000" b="1" i="0">
                <a:solidFill>
                  <a:srgbClr val="1E3A5F"/>
                </a:solidFill>
                <a:latin typeface="Times New Roman"/>
                <a:ea typeface="Times New Roman"/>
                <a:cs typeface="Times New Roman"/>
              </a:rPr>
              <a:t>Why the gap matters</a:t>
            </a:r>
          </a:p>
        </p:txBody>
      </p:sp>
      <p:sp>
        <p:nvSpPr>
          <p:cNvPr id="12" name="TextBox 11"/>
          <p:cNvSpPr txBox="1"/>
          <p:nvPr/>
        </p:nvSpPr>
        <p:spPr>
          <a:xfrm>
            <a:off x="4498848" y="2057400"/>
            <a:ext cx="3273552" cy="3017520"/>
          </a:xfrm>
          <a:prstGeom prst="rect">
            <a:avLst/>
          </a:prstGeom>
          <a:noFill/>
        </p:spPr>
        <p:txBody>
          <a:bodyPr wrap="square" lIns="0" rIns="0" tIns="0" bIns="0" anchor="t"/>
          <a:lstStyle/>
          <a:p>
            <a:pPr algn="l">
              <a:spcBef>
                <a:spcPts val="0"/>
              </a:spcBef>
              <a:spcAft>
                <a:spcPts val="0"/>
              </a:spcAft>
            </a:pPr>
            <a:r>
              <a:rPr sz="1500" b="0" i="0">
                <a:solidFill>
                  <a:srgbClr val="243140"/>
                </a:solidFill>
                <a:latin typeface="Arial"/>
                <a:ea typeface="Arial"/>
                <a:cs typeface="Arial"/>
              </a:rPr>
              <a:t>Mail/Express punctuality on Indian Railways was 73.62% in 2023–24 and 77.12% in 2024–25. Asset maintenance is one stated cause of delay. [2] In a 2017 audit of selected heavy-traffic sections, non-availability of blocks was the stated reason deep screening fell overdue. [4]</a:t>
            </a:r>
          </a:p>
        </p:txBody>
      </p:sp>
      <p:sp>
        <p:nvSpPr>
          <p:cNvPr id="13" name="Rectangle 12"/>
          <p:cNvSpPr/>
          <p:nvPr/>
        </p:nvSpPr>
        <p:spPr>
          <a:xfrm>
            <a:off x="8119872" y="1170432"/>
            <a:ext cx="3657600" cy="4160520"/>
          </a:xfrm>
          <a:prstGeom prst="rect">
            <a:avLst/>
          </a:prstGeom>
          <a:solidFill>
            <a:srgbClr val="E7F4F2"/>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170432"/>
            <a:ext cx="73152" cy="4160520"/>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316736"/>
            <a:ext cx="3291840" cy="640080"/>
          </a:xfrm>
          <a:prstGeom prst="rect">
            <a:avLst/>
          </a:prstGeom>
          <a:noFill/>
        </p:spPr>
        <p:txBody>
          <a:bodyPr wrap="square" lIns="0" rIns="0" tIns="0" bIns="0" anchor="t"/>
          <a:lstStyle/>
          <a:p>
            <a:pPr algn="l">
              <a:spcBef>
                <a:spcPts val="0"/>
              </a:spcBef>
              <a:spcAft>
                <a:spcPts val="0"/>
              </a:spcAft>
            </a:pPr>
            <a:r>
              <a:rPr sz="2000" b="1" i="0">
                <a:solidFill>
                  <a:srgbClr val="1E3A5F"/>
                </a:solidFill>
                <a:latin typeface="Times New Roman"/>
                <a:ea typeface="Times New Roman"/>
                <a:cs typeface="Times New Roman"/>
              </a:rPr>
              <a:t>Research objective</a:t>
            </a:r>
          </a:p>
        </p:txBody>
      </p:sp>
      <p:sp>
        <p:nvSpPr>
          <p:cNvPr id="16" name="TextBox 15"/>
          <p:cNvSpPr txBox="1"/>
          <p:nvPr/>
        </p:nvSpPr>
        <p:spPr>
          <a:xfrm>
            <a:off x="8339328" y="2057400"/>
            <a:ext cx="3273552" cy="3017520"/>
          </a:xfrm>
          <a:prstGeom prst="rect">
            <a:avLst/>
          </a:prstGeom>
          <a:noFill/>
        </p:spPr>
        <p:txBody>
          <a:bodyPr wrap="square" lIns="0" rIns="0" tIns="0" bIns="0" anchor="t"/>
          <a:lstStyle/>
          <a:p>
            <a:pPr algn="l">
              <a:spcBef>
                <a:spcPts val="0"/>
              </a:spcBef>
              <a:spcAft>
                <a:spcPts val="0"/>
              </a:spcAft>
            </a:pPr>
            <a:r>
              <a:rPr sz="1500" b="0" i="0">
                <a:solidFill>
                  <a:srgbClr val="243140"/>
                </a:solidFill>
                <a:latin typeface="Arial"/>
                <a:ea typeface="Arial"/>
                <a:cs typeface="Arial"/>
              </a:rPr>
              <a:t>Can separate maintenance records and a working timetable be turned into one explainable priority, a separate escalation forecast, shared possessions, and a feasible block a person still has to approve?</a:t>
            </a:r>
          </a:p>
        </p:txBody>
      </p:sp>
      <p:sp>
        <p:nvSpPr>
          <p:cNvPr id="17" name="TextBox 16"/>
          <p:cNvSpPr txBox="1"/>
          <p:nvPr/>
        </p:nvSpPr>
        <p:spPr>
          <a:xfrm>
            <a:off x="438912" y="5486400"/>
            <a:ext cx="11247120" cy="86868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Rolling Block, notified on 30 November 2023, already asks for integrated maintenance to be planned ahead. This prototype tests one way to do that on a modelled corridor. [3]</a:t>
            </a:r>
          </a:p>
        </p:txBody>
      </p:sp>
      <p:sp>
        <p:nvSpPr>
          <p:cNvPr id="18" name="TextBox 17"/>
          <p:cNvSpPr txBox="1"/>
          <p:nvPr/>
        </p:nvSpPr>
        <p:spPr>
          <a:xfrm>
            <a:off x="438912" y="6547104"/>
            <a:ext cx="7863840" cy="219456"/>
          </a:xfrm>
          <a:prstGeom prst="rect">
            <a:avLst/>
          </a:prstGeom>
          <a:noFill/>
        </p:spPr>
        <p:txBody>
          <a:bodyPr wrap="square" lIns="0" rIns="0" tIns="0" bIns="0" anchor="t"/>
          <a:lstStyle/>
          <a:p>
            <a:pPr algn="l">
              <a:spcBef>
                <a:spcPts val="0"/>
              </a:spcBef>
              <a:spcAft>
                <a:spcPts val="0"/>
              </a:spcAft>
            </a:pPr>
            <a:r>
              <a:rPr sz="1100" b="0" i="0">
                <a:solidFill>
                  <a:srgbClr val="5E6A75"/>
                </a:solidFill>
                <a:latin typeface="Arial"/>
                <a:ea typeface="Arial"/>
                <a:cs typeface="Arial"/>
              </a:rPr>
              <a:t>Prototype evidence. Not a live railway deployment.</a:t>
            </a:r>
          </a:p>
        </p:txBody>
      </p:sp>
      <p:sp>
        <p:nvSpPr>
          <p:cNvPr id="19" name="TextBox 18"/>
          <p:cNvSpPr txBox="1"/>
          <p:nvPr/>
        </p:nvSpPr>
        <p:spPr>
          <a:xfrm>
            <a:off x="9509760" y="6547104"/>
            <a:ext cx="2240280" cy="219456"/>
          </a:xfrm>
          <a:prstGeom prst="rect">
            <a:avLst/>
          </a:prstGeom>
          <a:noFill/>
        </p:spPr>
        <p:txBody>
          <a:bodyPr wrap="square" lIns="0" rIns="0" tIns="0" bIns="0" anchor="t"/>
          <a:lstStyle/>
          <a:p>
            <a:pPr algn="r">
              <a:spcBef>
                <a:spcPts val="0"/>
              </a:spcBef>
              <a:spcAft>
                <a:spcPts val="0"/>
              </a:spcAft>
            </a:pPr>
            <a:r>
              <a:rPr sz="1100" b="0" i="0">
                <a:solidFill>
                  <a:srgbClr val="5E6A75"/>
                </a:solidFill>
                <a:latin typeface="Arial"/>
                <a:ea typeface="Arial"/>
                <a:cs typeface="Arial"/>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01168"/>
            <a:ext cx="11247120" cy="219456"/>
          </a:xfrm>
          <a:prstGeom prst="rect">
            <a:avLst/>
          </a:prstGeom>
          <a:noFill/>
        </p:spPr>
        <p:txBody>
          <a:bodyPr wrap="square" lIns="0" rIns="0" tIns="0" bIns="0" anchor="t"/>
          <a:lstStyle/>
          <a:p>
            <a:pPr algn="l">
              <a:spcBef>
                <a:spcPts val="0"/>
              </a:spcBef>
              <a:spcAft>
                <a:spcPts val="0"/>
              </a:spcAft>
            </a:pPr>
            <a:r>
              <a:rPr sz="1200" b="1" i="0">
                <a:solidFill>
                  <a:srgbClr val="0F6E6B"/>
                </a:solidFill>
                <a:latin typeface="Arial"/>
                <a:ea typeface="Arial"/>
                <a:cs typeface="Arial"/>
              </a:rPr>
              <a:t>METHOD</a:t>
            </a:r>
          </a:p>
        </p:txBody>
      </p:sp>
      <p:sp>
        <p:nvSpPr>
          <p:cNvPr id="3" name="TextBox 2"/>
          <p:cNvSpPr txBox="1"/>
          <p:nvPr/>
        </p:nvSpPr>
        <p:spPr>
          <a:xfrm>
            <a:off x="438912" y="402336"/>
            <a:ext cx="11247120" cy="438912"/>
          </a:xfrm>
          <a:prstGeom prst="rect">
            <a:avLst/>
          </a:prstGeom>
          <a:noFill/>
        </p:spPr>
        <p:txBody>
          <a:bodyPr wrap="square" lIns="0" rIns="0" tIns="0" bIns="0" anchor="t"/>
          <a:lstStyle/>
          <a:p>
            <a:pPr algn="l">
              <a:spcBef>
                <a:spcPts val="0"/>
              </a:spcBef>
              <a:spcAft>
                <a:spcPts val="0"/>
              </a:spcAft>
            </a:pPr>
            <a:r>
              <a:rPr sz="2800" b="1" i="0">
                <a:solidFill>
                  <a:srgbClr val="1E3A5F"/>
                </a:solidFill>
                <a:latin typeface="Times New Roman"/>
                <a:ea typeface="Times New Roman"/>
                <a:cs typeface="Times New Roman"/>
              </a:rPr>
              <a:t>One pipeline. The numbers are not merged.</a:t>
            </a:r>
          </a:p>
        </p:txBody>
      </p:sp>
      <p:sp>
        <p:nvSpPr>
          <p:cNvPr id="4" name="Rectangle 3"/>
          <p:cNvSpPr/>
          <p:nvPr/>
        </p:nvSpPr>
        <p:spPr>
          <a:xfrm>
            <a:off x="438912" y="932688"/>
            <a:ext cx="11301984" cy="15875"/>
          </a:xfrm>
          <a:prstGeom prst="rect">
            <a:avLst/>
          </a:prstGeom>
          <a:solidFill>
            <a:srgbClr val="D5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1060704"/>
            <a:ext cx="11247120" cy="50292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TMS, SMMS, TDMS, COA, and WTT are the intended feeds. In this build they are file readers plus an encoded CSMT–Pune model, not live railway servers.</a:t>
            </a:r>
          </a:p>
        </p:txBody>
      </p:sp>
      <p:sp>
        <p:nvSpPr>
          <p:cNvPr id="6" name="Rectangle 5"/>
          <p:cNvSpPr/>
          <p:nvPr/>
        </p:nvSpPr>
        <p:spPr>
          <a:xfrm>
            <a:off x="438912" y="1627632"/>
            <a:ext cx="2148840" cy="713232"/>
          </a:xfrm>
          <a:prstGeom prst="rect">
            <a:avLst/>
          </a:prstGeom>
          <a:solidFill>
            <a:srgbClr val="EAF2F8"/>
          </a:solidFill>
          <a:ln w="12700">
            <a:solidFill>
              <a:srgbClr val="B7C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1993392" cy="566928"/>
          </a:xfrm>
          <a:prstGeom prst="rect">
            <a:avLst/>
          </a:prstGeom>
          <a:noFill/>
        </p:spPr>
        <p:txBody>
          <a:bodyPr wrap="square" lIns="0" rIns="0" tIns="0" bIns="0" anchor="t"/>
          <a:lstStyle/>
          <a:p>
            <a:pPr algn="ctr">
              <a:spcBef>
                <a:spcPts val="0"/>
              </a:spcBef>
              <a:spcAft>
                <a:spcPts val="0"/>
              </a:spcAft>
            </a:pPr>
            <a:r>
              <a:rPr sz="1300" b="1" i="0">
                <a:solidFill>
                  <a:srgbClr val="1E3A5F"/>
                </a:solidFill>
                <a:latin typeface="Arial"/>
                <a:ea typeface="Arial"/>
                <a:cs typeface="Arial"/>
              </a:rPr>
              <a:t>TMS
Track</a:t>
            </a:r>
          </a:p>
        </p:txBody>
      </p:sp>
      <p:sp>
        <p:nvSpPr>
          <p:cNvPr id="8" name="Rectangle 7"/>
          <p:cNvSpPr/>
          <p:nvPr/>
        </p:nvSpPr>
        <p:spPr>
          <a:xfrm>
            <a:off x="2743200" y="1627632"/>
            <a:ext cx="2148840" cy="713232"/>
          </a:xfrm>
          <a:prstGeom prst="rect">
            <a:avLst/>
          </a:prstGeom>
          <a:solidFill>
            <a:srgbClr val="EAF2F8"/>
          </a:solidFill>
          <a:ln w="12700">
            <a:solidFill>
              <a:srgbClr val="B7C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16352" y="1700784"/>
            <a:ext cx="1993392" cy="566928"/>
          </a:xfrm>
          <a:prstGeom prst="rect">
            <a:avLst/>
          </a:prstGeom>
          <a:noFill/>
        </p:spPr>
        <p:txBody>
          <a:bodyPr wrap="square" lIns="0" rIns="0" tIns="0" bIns="0" anchor="t"/>
          <a:lstStyle/>
          <a:p>
            <a:pPr algn="ctr">
              <a:spcBef>
                <a:spcPts val="0"/>
              </a:spcBef>
              <a:spcAft>
                <a:spcPts val="0"/>
              </a:spcAft>
            </a:pPr>
            <a:r>
              <a:rPr sz="1300" b="1" i="0">
                <a:solidFill>
                  <a:srgbClr val="1E3A5F"/>
                </a:solidFill>
                <a:latin typeface="Arial"/>
                <a:ea typeface="Arial"/>
                <a:cs typeface="Arial"/>
              </a:rPr>
              <a:t>SMMS
Signalling</a:t>
            </a:r>
          </a:p>
        </p:txBody>
      </p:sp>
      <p:sp>
        <p:nvSpPr>
          <p:cNvPr id="10" name="Rectangle 9"/>
          <p:cNvSpPr/>
          <p:nvPr/>
        </p:nvSpPr>
        <p:spPr>
          <a:xfrm>
            <a:off x="5047488" y="1627632"/>
            <a:ext cx="2148840" cy="713232"/>
          </a:xfrm>
          <a:prstGeom prst="rect">
            <a:avLst/>
          </a:prstGeom>
          <a:solidFill>
            <a:srgbClr val="EAF2F8"/>
          </a:solidFill>
          <a:ln w="12700">
            <a:solidFill>
              <a:srgbClr val="B7C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700784"/>
            <a:ext cx="1993392" cy="566928"/>
          </a:xfrm>
          <a:prstGeom prst="rect">
            <a:avLst/>
          </a:prstGeom>
          <a:noFill/>
        </p:spPr>
        <p:txBody>
          <a:bodyPr wrap="square" lIns="0" rIns="0" tIns="0" bIns="0" anchor="t"/>
          <a:lstStyle/>
          <a:p>
            <a:pPr algn="ctr">
              <a:spcBef>
                <a:spcPts val="0"/>
              </a:spcBef>
              <a:spcAft>
                <a:spcPts val="0"/>
              </a:spcAft>
            </a:pPr>
            <a:r>
              <a:rPr sz="1300" b="1" i="0">
                <a:solidFill>
                  <a:srgbClr val="1E3A5F"/>
                </a:solidFill>
                <a:latin typeface="Arial"/>
                <a:ea typeface="Arial"/>
                <a:cs typeface="Arial"/>
              </a:rPr>
              <a:t>TDMS
Traction</a:t>
            </a:r>
          </a:p>
        </p:txBody>
      </p:sp>
      <p:sp>
        <p:nvSpPr>
          <p:cNvPr id="12" name="Rectangle 11"/>
          <p:cNvSpPr/>
          <p:nvPr/>
        </p:nvSpPr>
        <p:spPr>
          <a:xfrm>
            <a:off x="7351776" y="1627632"/>
            <a:ext cx="2148840" cy="713232"/>
          </a:xfrm>
          <a:prstGeom prst="rect">
            <a:avLst/>
          </a:prstGeom>
          <a:solidFill>
            <a:srgbClr val="EAF2F8"/>
          </a:solidFill>
          <a:ln w="12700">
            <a:solidFill>
              <a:srgbClr val="B7C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8" y="1700784"/>
            <a:ext cx="1993392" cy="566928"/>
          </a:xfrm>
          <a:prstGeom prst="rect">
            <a:avLst/>
          </a:prstGeom>
          <a:noFill/>
        </p:spPr>
        <p:txBody>
          <a:bodyPr wrap="square" lIns="0" rIns="0" tIns="0" bIns="0" anchor="t"/>
          <a:lstStyle/>
          <a:p>
            <a:pPr algn="ctr">
              <a:spcBef>
                <a:spcPts val="0"/>
              </a:spcBef>
              <a:spcAft>
                <a:spcPts val="0"/>
              </a:spcAft>
            </a:pPr>
            <a:r>
              <a:rPr sz="1300" b="1" i="0">
                <a:solidFill>
                  <a:srgbClr val="1E3A5F"/>
                </a:solidFill>
                <a:latin typeface="Arial"/>
                <a:ea typeface="Arial"/>
                <a:cs typeface="Arial"/>
              </a:rPr>
              <a:t>COA
Corridor</a:t>
            </a:r>
          </a:p>
        </p:txBody>
      </p:sp>
      <p:sp>
        <p:nvSpPr>
          <p:cNvPr id="14" name="Rectangle 13"/>
          <p:cNvSpPr/>
          <p:nvPr/>
        </p:nvSpPr>
        <p:spPr>
          <a:xfrm>
            <a:off x="9656064" y="1627632"/>
            <a:ext cx="2148840" cy="713232"/>
          </a:xfrm>
          <a:prstGeom prst="rect">
            <a:avLst/>
          </a:prstGeom>
          <a:solidFill>
            <a:srgbClr val="EAF2F8"/>
          </a:solidFill>
          <a:ln w="12700">
            <a:solidFill>
              <a:srgbClr val="B7C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29216" y="1700784"/>
            <a:ext cx="1993392" cy="566928"/>
          </a:xfrm>
          <a:prstGeom prst="rect">
            <a:avLst/>
          </a:prstGeom>
          <a:noFill/>
        </p:spPr>
        <p:txBody>
          <a:bodyPr wrap="square" lIns="0" rIns="0" tIns="0" bIns="0" anchor="t"/>
          <a:lstStyle/>
          <a:p>
            <a:pPr algn="ctr">
              <a:spcBef>
                <a:spcPts val="0"/>
              </a:spcBef>
              <a:spcAft>
                <a:spcPts val="0"/>
              </a:spcAft>
            </a:pPr>
            <a:r>
              <a:rPr sz="1300" b="1" i="0">
                <a:solidFill>
                  <a:srgbClr val="1E3A5F"/>
                </a:solidFill>
                <a:latin typeface="Arial"/>
                <a:ea typeface="Arial"/>
                <a:cs typeface="Arial"/>
              </a:rPr>
              <a:t>WTT
Timetable</a:t>
            </a:r>
          </a:p>
        </p:txBody>
      </p:sp>
      <p:sp>
        <p:nvSpPr>
          <p:cNvPr id="16" name="Rectangle 15"/>
          <p:cNvSpPr/>
          <p:nvPr/>
        </p:nvSpPr>
        <p:spPr>
          <a:xfrm>
            <a:off x="438912" y="256032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65176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1</a:t>
            </a:r>
          </a:p>
        </p:txBody>
      </p:sp>
      <p:sp>
        <p:nvSpPr>
          <p:cNvPr id="18" name="TextBox 17"/>
          <p:cNvSpPr txBox="1"/>
          <p:nvPr/>
        </p:nvSpPr>
        <p:spPr>
          <a:xfrm>
            <a:off x="896112" y="267004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Read and check</a:t>
            </a:r>
          </a:p>
        </p:txBody>
      </p:sp>
      <p:sp>
        <p:nvSpPr>
          <p:cNvPr id="19" name="TextBox 18"/>
          <p:cNvSpPr txBox="1"/>
          <p:nvPr/>
        </p:nvSpPr>
        <p:spPr>
          <a:xfrm>
            <a:off x="566928" y="307238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Parse each export. A bad row is rejected with a reason.</a:t>
            </a:r>
          </a:p>
        </p:txBody>
      </p:sp>
      <p:sp>
        <p:nvSpPr>
          <p:cNvPr id="20" name="Rectangle 19"/>
          <p:cNvSpPr/>
          <p:nvPr/>
        </p:nvSpPr>
        <p:spPr>
          <a:xfrm>
            <a:off x="3364992" y="256032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0" y="265176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2</a:t>
            </a:r>
          </a:p>
        </p:txBody>
      </p:sp>
      <p:sp>
        <p:nvSpPr>
          <p:cNvPr id="22" name="TextBox 21"/>
          <p:cNvSpPr txBox="1"/>
          <p:nvPr/>
        </p:nvSpPr>
        <p:spPr>
          <a:xfrm>
            <a:off x="3822192" y="267004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AI-1 review</a:t>
            </a:r>
          </a:p>
        </p:txBody>
      </p:sp>
      <p:sp>
        <p:nvSpPr>
          <p:cNvPr id="23" name="TextBox 22"/>
          <p:cNvSpPr txBox="1"/>
          <p:nvPr/>
        </p:nvSpPr>
        <p:spPr>
          <a:xfrm>
            <a:off x="3493008" y="307238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Local rules propose findings. A quote must be on the page. A person applies ready rows.</a:t>
            </a:r>
          </a:p>
        </p:txBody>
      </p:sp>
      <p:sp>
        <p:nvSpPr>
          <p:cNvPr id="24" name="Rectangle 23"/>
          <p:cNvSpPr/>
          <p:nvPr/>
        </p:nvSpPr>
        <p:spPr>
          <a:xfrm>
            <a:off x="6291072" y="256032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65176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3</a:t>
            </a:r>
          </a:p>
        </p:txBody>
      </p:sp>
      <p:sp>
        <p:nvSpPr>
          <p:cNvPr id="26" name="TextBox 25"/>
          <p:cNvSpPr txBox="1"/>
          <p:nvPr/>
        </p:nvSpPr>
        <p:spPr>
          <a:xfrm>
            <a:off x="6748272" y="267004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Formula 1</a:t>
            </a:r>
          </a:p>
        </p:txBody>
      </p:sp>
      <p:sp>
        <p:nvSpPr>
          <p:cNvPr id="27" name="TextBox 26"/>
          <p:cNvSpPr txBox="1"/>
          <p:nvPr/>
        </p:nvSpPr>
        <p:spPr>
          <a:xfrm>
            <a:off x="6419088" y="307238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Explainable urgency from severity, overdue days, TSR, and traffic.</a:t>
            </a:r>
          </a:p>
        </p:txBody>
      </p:sp>
      <p:sp>
        <p:nvSpPr>
          <p:cNvPr id="28" name="Rectangle 27"/>
          <p:cNvSpPr/>
          <p:nvPr/>
        </p:nvSpPr>
        <p:spPr>
          <a:xfrm>
            <a:off x="9217152" y="256032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265176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4</a:t>
            </a:r>
          </a:p>
        </p:txBody>
      </p:sp>
      <p:sp>
        <p:nvSpPr>
          <p:cNvPr id="30" name="TextBox 29"/>
          <p:cNvSpPr txBox="1"/>
          <p:nvPr/>
        </p:nvSpPr>
        <p:spPr>
          <a:xfrm>
            <a:off x="9674352" y="267004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Days to critical</a:t>
            </a:r>
          </a:p>
        </p:txBody>
      </p:sp>
      <p:sp>
        <p:nvSpPr>
          <p:cNvPr id="31" name="TextBox 30"/>
          <p:cNvSpPr txBox="1"/>
          <p:nvPr/>
        </p:nvSpPr>
        <p:spPr>
          <a:xfrm>
            <a:off x="9345168" y="307238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A separate forecast. It does not replace Formula 1.</a:t>
            </a:r>
          </a:p>
        </p:txBody>
      </p:sp>
      <p:sp>
        <p:nvSpPr>
          <p:cNvPr id="32" name="Rectangle 31"/>
          <p:cNvSpPr/>
          <p:nvPr/>
        </p:nvSpPr>
        <p:spPr>
          <a:xfrm>
            <a:off x="1591056" y="434340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00784" y="443484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5</a:t>
            </a:r>
          </a:p>
        </p:txBody>
      </p:sp>
      <p:sp>
        <p:nvSpPr>
          <p:cNvPr id="34" name="TextBox 33"/>
          <p:cNvSpPr txBox="1"/>
          <p:nvPr/>
        </p:nvSpPr>
        <p:spPr>
          <a:xfrm>
            <a:off x="2048256" y="445312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Formula 2</a:t>
            </a:r>
          </a:p>
        </p:txBody>
      </p:sp>
      <p:sp>
        <p:nvSpPr>
          <p:cNvPr id="35" name="TextBox 34"/>
          <p:cNvSpPr txBox="1"/>
          <p:nvPr/>
        </p:nvSpPr>
        <p:spPr>
          <a:xfrm>
            <a:off x="1719072" y="485546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Same line and feeder, next job within 3 km, one possession.</a:t>
            </a:r>
          </a:p>
        </p:txBody>
      </p:sp>
      <p:sp>
        <p:nvSpPr>
          <p:cNvPr id="36" name="Rectangle 35"/>
          <p:cNvSpPr/>
          <p:nvPr/>
        </p:nvSpPr>
        <p:spPr>
          <a:xfrm>
            <a:off x="4471416" y="434340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81144" y="443484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6</a:t>
            </a:r>
          </a:p>
        </p:txBody>
      </p:sp>
      <p:sp>
        <p:nvSpPr>
          <p:cNvPr id="38" name="TextBox 37"/>
          <p:cNvSpPr txBox="1"/>
          <p:nvPr/>
        </p:nvSpPr>
        <p:spPr>
          <a:xfrm>
            <a:off x="4928616" y="445312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CP-SAT</a:t>
            </a:r>
          </a:p>
        </p:txBody>
      </p:sp>
      <p:sp>
        <p:nvSpPr>
          <p:cNvPr id="39" name="TextBox 38"/>
          <p:cNvSpPr txBox="1"/>
          <p:nvPr/>
        </p:nvSpPr>
        <p:spPr>
          <a:xfrm>
            <a:off x="4599432" y="485546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OR-Tools searches a legal window under Rules A, B, and C.</a:t>
            </a:r>
          </a:p>
        </p:txBody>
      </p:sp>
      <p:sp>
        <p:nvSpPr>
          <p:cNvPr id="40" name="Rectangle 39"/>
          <p:cNvSpPr/>
          <p:nvPr/>
        </p:nvSpPr>
        <p:spPr>
          <a:xfrm>
            <a:off x="7351775" y="4343400"/>
            <a:ext cx="2761488" cy="162763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61503" y="4434840"/>
            <a:ext cx="365760" cy="329184"/>
          </a:xfrm>
          <a:prstGeom prst="rect">
            <a:avLst/>
          </a:prstGeom>
          <a:noFill/>
        </p:spPr>
        <p:txBody>
          <a:bodyPr wrap="square" lIns="0" rIns="0" tIns="0" bIns="0" anchor="t"/>
          <a:lstStyle/>
          <a:p>
            <a:pPr algn="l">
              <a:spcBef>
                <a:spcPts val="0"/>
              </a:spcBef>
              <a:spcAft>
                <a:spcPts val="0"/>
              </a:spcAft>
            </a:pPr>
            <a:r>
              <a:rPr sz="1800" b="1" i="0">
                <a:solidFill>
                  <a:srgbClr val="0F6E6B"/>
                </a:solidFill>
                <a:latin typeface="Times New Roman"/>
                <a:ea typeface="Times New Roman"/>
                <a:cs typeface="Times New Roman"/>
              </a:rPr>
              <a:t>7</a:t>
            </a:r>
          </a:p>
        </p:txBody>
      </p:sp>
      <p:sp>
        <p:nvSpPr>
          <p:cNvPr id="42" name="TextBox 41"/>
          <p:cNvSpPr txBox="1"/>
          <p:nvPr/>
        </p:nvSpPr>
        <p:spPr>
          <a:xfrm>
            <a:off x="7808975" y="4453128"/>
            <a:ext cx="2194560" cy="329184"/>
          </a:xfrm>
          <a:prstGeom prst="rect">
            <a:avLst/>
          </a:prstGeom>
          <a:noFill/>
        </p:spPr>
        <p:txBody>
          <a:bodyPr wrap="square" lIns="0" rIns="0" tIns="0" bIns="0" anchor="t"/>
          <a:lstStyle/>
          <a:p>
            <a:pPr algn="l">
              <a:spcBef>
                <a:spcPts val="0"/>
              </a:spcBef>
              <a:spcAft>
                <a:spcPts val="0"/>
              </a:spcAft>
            </a:pPr>
            <a:r>
              <a:rPr sz="1600" b="1" i="0">
                <a:solidFill>
                  <a:srgbClr val="1E3A5F"/>
                </a:solidFill>
                <a:latin typeface="Times New Roman"/>
                <a:ea typeface="Times New Roman"/>
                <a:cs typeface="Times New Roman"/>
              </a:rPr>
              <a:t>Dashboard</a:t>
            </a:r>
          </a:p>
        </p:txBody>
      </p:sp>
      <p:sp>
        <p:nvSpPr>
          <p:cNvPr id="43" name="TextBox 42"/>
          <p:cNvSpPr txBox="1"/>
          <p:nvPr/>
        </p:nvSpPr>
        <p:spPr>
          <a:xfrm>
            <a:off x="7479791" y="4855464"/>
            <a:ext cx="2505456" cy="1005840"/>
          </a:xfrm>
          <a:prstGeom prst="rect">
            <a:avLst/>
          </a:prstGeom>
          <a:noFill/>
        </p:spPr>
        <p:txBody>
          <a:bodyPr wrap="square" lIns="0" rIns="0" tIns="0" bIns="0" anchor="t"/>
          <a:lstStyle/>
          <a:p>
            <a:pPr algn="l">
              <a:spcBef>
                <a:spcPts val="0"/>
              </a:spcBef>
              <a:spcAft>
                <a:spcPts val="0"/>
              </a:spcAft>
            </a:pPr>
            <a:r>
              <a:rPr sz="1300" b="0" i="0">
                <a:solidFill>
                  <a:srgbClr val="243140"/>
                </a:solidFill>
                <a:latin typeface="Arial"/>
                <a:ea typeface="Arial"/>
                <a:cs typeface="Arial"/>
              </a:rPr>
              <a:t>Three policies are shown. A person sanctions, shifts, or rejects.</a:t>
            </a:r>
          </a:p>
        </p:txBody>
      </p:sp>
      <p:sp>
        <p:nvSpPr>
          <p:cNvPr id="44" name="TextBox 43"/>
          <p:cNvSpPr txBox="1"/>
          <p:nvPr/>
        </p:nvSpPr>
        <p:spPr>
          <a:xfrm>
            <a:off x="438912" y="6547104"/>
            <a:ext cx="7863840" cy="219456"/>
          </a:xfrm>
          <a:prstGeom prst="rect">
            <a:avLst/>
          </a:prstGeom>
          <a:noFill/>
        </p:spPr>
        <p:txBody>
          <a:bodyPr wrap="square" lIns="0" rIns="0" tIns="0" bIns="0" anchor="t"/>
          <a:lstStyle/>
          <a:p>
            <a:pPr algn="l">
              <a:spcBef>
                <a:spcPts val="0"/>
              </a:spcBef>
              <a:spcAft>
                <a:spcPts val="0"/>
              </a:spcAft>
            </a:pPr>
            <a:r>
              <a:rPr sz="1100" b="0" i="0">
                <a:solidFill>
                  <a:srgbClr val="5E6A75"/>
                </a:solidFill>
                <a:latin typeface="Arial"/>
                <a:ea typeface="Arial"/>
                <a:cs typeface="Arial"/>
              </a:rPr>
              <a:t>Prototype evidence. Not a live railway deployment.</a:t>
            </a:r>
          </a:p>
        </p:txBody>
      </p:sp>
      <p:sp>
        <p:nvSpPr>
          <p:cNvPr id="45" name="TextBox 44"/>
          <p:cNvSpPr txBox="1"/>
          <p:nvPr/>
        </p:nvSpPr>
        <p:spPr>
          <a:xfrm>
            <a:off x="9509760" y="6547104"/>
            <a:ext cx="2240280" cy="219456"/>
          </a:xfrm>
          <a:prstGeom prst="rect">
            <a:avLst/>
          </a:prstGeom>
          <a:noFill/>
        </p:spPr>
        <p:txBody>
          <a:bodyPr wrap="square" lIns="0" rIns="0" tIns="0" bIns="0" anchor="t"/>
          <a:lstStyle/>
          <a:p>
            <a:pPr algn="r">
              <a:spcBef>
                <a:spcPts val="0"/>
              </a:spcBef>
              <a:spcAft>
                <a:spcPts val="0"/>
              </a:spcAft>
            </a:pPr>
            <a:r>
              <a:rPr sz="1100" b="0" i="0">
                <a:solidFill>
                  <a:srgbClr val="5E6A75"/>
                </a:solidFill>
                <a:latin typeface="Arial"/>
                <a:ea typeface="Arial"/>
                <a:cs typeface="Arial"/>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01168"/>
            <a:ext cx="11247120" cy="219456"/>
          </a:xfrm>
          <a:prstGeom prst="rect">
            <a:avLst/>
          </a:prstGeom>
          <a:noFill/>
        </p:spPr>
        <p:txBody>
          <a:bodyPr wrap="square" lIns="0" rIns="0" tIns="0" bIns="0" anchor="t"/>
          <a:lstStyle/>
          <a:p>
            <a:pPr algn="l">
              <a:spcBef>
                <a:spcPts val="0"/>
              </a:spcBef>
              <a:spcAft>
                <a:spcPts val="0"/>
              </a:spcAft>
            </a:pPr>
            <a:r>
              <a:rPr sz="1200" b="1" i="0">
                <a:solidFill>
                  <a:srgbClr val="0F6E6B"/>
                </a:solidFill>
                <a:latin typeface="Arial"/>
                <a:ea typeface="Arial"/>
                <a:cs typeface="Arial"/>
              </a:rPr>
              <a:t>CONTRIBUTION</a:t>
            </a:r>
          </a:p>
        </p:txBody>
      </p:sp>
      <p:sp>
        <p:nvSpPr>
          <p:cNvPr id="3" name="TextBox 2"/>
          <p:cNvSpPr txBox="1"/>
          <p:nvPr/>
        </p:nvSpPr>
        <p:spPr>
          <a:xfrm>
            <a:off x="438912" y="402336"/>
            <a:ext cx="11247120" cy="438912"/>
          </a:xfrm>
          <a:prstGeom prst="rect">
            <a:avLst/>
          </a:prstGeom>
          <a:noFill/>
        </p:spPr>
        <p:txBody>
          <a:bodyPr wrap="square" lIns="0" rIns="0" tIns="0" bIns="0" anchor="t"/>
          <a:lstStyle/>
          <a:p>
            <a:pPr algn="l">
              <a:spcBef>
                <a:spcPts val="0"/>
              </a:spcBef>
              <a:spcAft>
                <a:spcPts val="0"/>
              </a:spcAft>
            </a:pPr>
            <a:r>
              <a:rPr sz="2800" b="1" i="0">
                <a:solidFill>
                  <a:srgbClr val="1E3A5F"/>
                </a:solidFill>
                <a:latin typeface="Times New Roman"/>
                <a:ea typeface="Times New Roman"/>
                <a:cs typeface="Times New Roman"/>
              </a:rPr>
              <a:t>The combination is the research claim</a:t>
            </a:r>
          </a:p>
        </p:txBody>
      </p:sp>
      <p:sp>
        <p:nvSpPr>
          <p:cNvPr id="4" name="Rectangle 3"/>
          <p:cNvSpPr/>
          <p:nvPr/>
        </p:nvSpPr>
        <p:spPr>
          <a:xfrm>
            <a:off x="438912" y="932688"/>
            <a:ext cx="11301984" cy="15875"/>
          </a:xfrm>
          <a:prstGeom prst="rect">
            <a:avLst/>
          </a:prstGeom>
          <a:solidFill>
            <a:srgbClr val="D5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8912" y="1143000"/>
            <a:ext cx="3675887" cy="2331720"/>
          </a:xfrm>
          <a:prstGeom prst="rect">
            <a:avLst/>
          </a:prstGeom>
          <a:solidFill>
            <a:srgbClr val="EAF2F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1271016"/>
            <a:ext cx="3346704" cy="384048"/>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Shared records</a:t>
            </a:r>
          </a:p>
        </p:txBody>
      </p:sp>
      <p:sp>
        <p:nvSpPr>
          <p:cNvPr id="7" name="TextBox 6"/>
          <p:cNvSpPr txBox="1"/>
          <p:nvPr/>
        </p:nvSpPr>
        <p:spPr>
          <a:xfrm>
            <a:off x="603504" y="1728216"/>
            <a:ext cx="3346704" cy="16002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Department exports are normalised into one defect shape. Source severity is kept as reported. It is not rewritten as the urgency score.</a:t>
            </a:r>
          </a:p>
        </p:txBody>
      </p:sp>
      <p:sp>
        <p:nvSpPr>
          <p:cNvPr id="8" name="Rectangle 7"/>
          <p:cNvSpPr/>
          <p:nvPr/>
        </p:nvSpPr>
        <p:spPr>
          <a:xfrm>
            <a:off x="4279392" y="1143000"/>
            <a:ext cx="3675887" cy="2331720"/>
          </a:xfrm>
          <a:prstGeom prst="rect">
            <a:avLst/>
          </a:prstGeom>
          <a:solidFill>
            <a:srgbClr val="EAF2F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3984" y="1271016"/>
            <a:ext cx="3346704" cy="384048"/>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Explainable priority</a:t>
            </a:r>
          </a:p>
        </p:txBody>
      </p:sp>
      <p:sp>
        <p:nvSpPr>
          <p:cNvPr id="10" name="TextBox 9"/>
          <p:cNvSpPr txBox="1"/>
          <p:nvPr/>
        </p:nvSpPr>
        <p:spPr>
          <a:xfrm>
            <a:off x="4443984" y="1728216"/>
            <a:ext cx="3346704" cy="16002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Formula 1 is written down: safety, overdue days, an active speed restriction, and how busy the line is. The screen shows 0–100. The solver can use the unclipped score.</a:t>
            </a:r>
          </a:p>
        </p:txBody>
      </p:sp>
      <p:sp>
        <p:nvSpPr>
          <p:cNvPr id="11" name="Rectangle 10"/>
          <p:cNvSpPr/>
          <p:nvPr/>
        </p:nvSpPr>
        <p:spPr>
          <a:xfrm>
            <a:off x="8119872" y="1143000"/>
            <a:ext cx="3675887" cy="2331720"/>
          </a:xfrm>
          <a:prstGeom prst="rect">
            <a:avLst/>
          </a:prstGeom>
          <a:solidFill>
            <a:srgbClr val="EAF2F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271016"/>
            <a:ext cx="3346704" cy="384048"/>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A separate forecast</a:t>
            </a:r>
          </a:p>
        </p:txBody>
      </p:sp>
      <p:sp>
        <p:nvSpPr>
          <p:cNvPr id="13" name="TextBox 12"/>
          <p:cNvSpPr txBox="1"/>
          <p:nvPr/>
        </p:nvSpPr>
        <p:spPr>
          <a:xfrm>
            <a:off x="8284464" y="1728216"/>
            <a:ext cx="3346704" cy="16002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Gradient boosting estimates days until severity reaches 80. Training labels are synthetic. The forecast is shown beside Formula 1, not inside it.</a:t>
            </a:r>
          </a:p>
        </p:txBody>
      </p:sp>
      <p:sp>
        <p:nvSpPr>
          <p:cNvPr id="14" name="Rectangle 13"/>
          <p:cNvSpPr/>
          <p:nvPr/>
        </p:nvSpPr>
        <p:spPr>
          <a:xfrm>
            <a:off x="438912" y="3657600"/>
            <a:ext cx="3675887" cy="2331720"/>
          </a:xfrm>
          <a:prstGeom prst="rect">
            <a:avLst/>
          </a:prstGeom>
          <a:solidFill>
            <a:srgbClr val="E7F4F2"/>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3785616"/>
            <a:ext cx="3346704" cy="384048"/>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One possession</a:t>
            </a:r>
          </a:p>
        </p:txBody>
      </p:sp>
      <p:sp>
        <p:nvSpPr>
          <p:cNvPr id="16" name="TextBox 15"/>
          <p:cNvSpPr txBox="1"/>
          <p:nvPr/>
        </p:nvSpPr>
        <p:spPr>
          <a:xfrm>
            <a:off x="603504" y="4242816"/>
            <a:ext cx="3346704" cy="16002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Formula 2 packs compatible jobs on the same line and feeder within 3 km. Work time becomes the longest job plus 15 minutes, instead of a fresh visit for each job.</a:t>
            </a:r>
          </a:p>
        </p:txBody>
      </p:sp>
      <p:sp>
        <p:nvSpPr>
          <p:cNvPr id="17" name="Rectangle 16"/>
          <p:cNvSpPr/>
          <p:nvPr/>
        </p:nvSpPr>
        <p:spPr>
          <a:xfrm>
            <a:off x="4279392" y="3657600"/>
            <a:ext cx="3675887" cy="2331720"/>
          </a:xfrm>
          <a:prstGeom prst="rect">
            <a:avLst/>
          </a:prstGeom>
          <a:solidFill>
            <a:srgbClr val="E7F4F2"/>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4" y="3785616"/>
            <a:ext cx="3346704" cy="384048"/>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A feasible window</a:t>
            </a:r>
          </a:p>
        </p:txBody>
      </p:sp>
      <p:sp>
        <p:nvSpPr>
          <p:cNvPr id="19" name="TextBox 18"/>
          <p:cNvSpPr txBox="1"/>
          <p:nvPr/>
        </p:nvSpPr>
        <p:spPr>
          <a:xfrm>
            <a:off x="4443984" y="4242816"/>
            <a:ext cx="3346704" cy="16002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CP-SAT must keep trains and the gang apart, protect Premium and Superfast trains from induced delay, cap other delay, and respect the machine pool and power isolation.</a:t>
            </a:r>
          </a:p>
        </p:txBody>
      </p:sp>
      <p:sp>
        <p:nvSpPr>
          <p:cNvPr id="20" name="Rectangle 19"/>
          <p:cNvSpPr/>
          <p:nvPr/>
        </p:nvSpPr>
        <p:spPr>
          <a:xfrm>
            <a:off x="8119872" y="3657600"/>
            <a:ext cx="3675887" cy="2331720"/>
          </a:xfrm>
          <a:prstGeom prst="rect">
            <a:avLst/>
          </a:prstGeom>
          <a:solidFill>
            <a:srgbClr val="E7F4F2"/>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4464" y="3785616"/>
            <a:ext cx="3346704" cy="384048"/>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A human decision</a:t>
            </a:r>
          </a:p>
        </p:txBody>
      </p:sp>
      <p:sp>
        <p:nvSpPr>
          <p:cNvPr id="22" name="TextBox 21"/>
          <p:cNvSpPr txBox="1"/>
          <p:nvPr/>
        </p:nvSpPr>
        <p:spPr>
          <a:xfrm>
            <a:off x="8284464" y="4242816"/>
            <a:ext cx="3346704" cy="16002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Punctuality-First, Asset-First, and Mega-Block reweight the same constraints. AI-1 only prepares evidence-linked rows. It does not choose the block.</a:t>
            </a:r>
          </a:p>
        </p:txBody>
      </p:sp>
      <p:sp>
        <p:nvSpPr>
          <p:cNvPr id="23" name="TextBox 22"/>
          <p:cNvSpPr txBox="1"/>
          <p:nvPr/>
        </p:nvSpPr>
        <p:spPr>
          <a:xfrm>
            <a:off x="438912" y="6547104"/>
            <a:ext cx="7863840" cy="219456"/>
          </a:xfrm>
          <a:prstGeom prst="rect">
            <a:avLst/>
          </a:prstGeom>
          <a:noFill/>
        </p:spPr>
        <p:txBody>
          <a:bodyPr wrap="square" lIns="0" rIns="0" tIns="0" bIns="0" anchor="t"/>
          <a:lstStyle/>
          <a:p>
            <a:pPr algn="l">
              <a:spcBef>
                <a:spcPts val="0"/>
              </a:spcBef>
              <a:spcAft>
                <a:spcPts val="0"/>
              </a:spcAft>
            </a:pPr>
            <a:r>
              <a:rPr sz="1100" b="0" i="0">
                <a:solidFill>
                  <a:srgbClr val="5E6A75"/>
                </a:solidFill>
                <a:latin typeface="Arial"/>
                <a:ea typeface="Arial"/>
                <a:cs typeface="Arial"/>
              </a:rPr>
              <a:t>Prototype evidence. Not a live railway deployment.</a:t>
            </a:r>
          </a:p>
        </p:txBody>
      </p:sp>
      <p:sp>
        <p:nvSpPr>
          <p:cNvPr id="24" name="TextBox 23"/>
          <p:cNvSpPr txBox="1"/>
          <p:nvPr/>
        </p:nvSpPr>
        <p:spPr>
          <a:xfrm>
            <a:off x="9509760" y="6547104"/>
            <a:ext cx="2240280" cy="219456"/>
          </a:xfrm>
          <a:prstGeom prst="rect">
            <a:avLst/>
          </a:prstGeom>
          <a:noFill/>
        </p:spPr>
        <p:txBody>
          <a:bodyPr wrap="square" lIns="0" rIns="0" tIns="0" bIns="0" anchor="t"/>
          <a:lstStyle/>
          <a:p>
            <a:pPr algn="r">
              <a:spcBef>
                <a:spcPts val="0"/>
              </a:spcBef>
              <a:spcAft>
                <a:spcPts val="0"/>
              </a:spcAft>
            </a:pPr>
            <a:r>
              <a:rPr sz="1100" b="0" i="0">
                <a:solidFill>
                  <a:srgbClr val="5E6A75"/>
                </a:solidFill>
                <a:latin typeface="Arial"/>
                <a:ea typeface="Arial"/>
                <a:cs typeface="Arial"/>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01168"/>
            <a:ext cx="11247120" cy="219456"/>
          </a:xfrm>
          <a:prstGeom prst="rect">
            <a:avLst/>
          </a:prstGeom>
          <a:noFill/>
        </p:spPr>
        <p:txBody>
          <a:bodyPr wrap="square" lIns="0" rIns="0" tIns="0" bIns="0" anchor="t"/>
          <a:lstStyle/>
          <a:p>
            <a:pPr algn="l">
              <a:spcBef>
                <a:spcPts val="0"/>
              </a:spcBef>
              <a:spcAft>
                <a:spcPts val="0"/>
              </a:spcAft>
            </a:pPr>
            <a:r>
              <a:rPr sz="1200" b="1" i="0">
                <a:solidFill>
                  <a:srgbClr val="0F6E6B"/>
                </a:solidFill>
                <a:latin typeface="Arial"/>
                <a:ea typeface="Arial"/>
                <a:cs typeface="Arial"/>
              </a:rPr>
              <a:t>PROTOTYPE EVALUATION</a:t>
            </a:r>
          </a:p>
        </p:txBody>
      </p:sp>
      <p:sp>
        <p:nvSpPr>
          <p:cNvPr id="3" name="TextBox 2"/>
          <p:cNvSpPr txBox="1"/>
          <p:nvPr/>
        </p:nvSpPr>
        <p:spPr>
          <a:xfrm>
            <a:off x="438912" y="402336"/>
            <a:ext cx="11247120" cy="438912"/>
          </a:xfrm>
          <a:prstGeom prst="rect">
            <a:avLst/>
          </a:prstGeom>
          <a:noFill/>
        </p:spPr>
        <p:txBody>
          <a:bodyPr wrap="square" lIns="0" rIns="0" tIns="0" bIns="0" anchor="t"/>
          <a:lstStyle/>
          <a:p>
            <a:pPr algn="l">
              <a:spcBef>
                <a:spcPts val="0"/>
              </a:spcBef>
              <a:spcAft>
                <a:spcPts val="0"/>
              </a:spcAft>
            </a:pPr>
            <a:r>
              <a:rPr sz="2800" b="1" i="0">
                <a:solidFill>
                  <a:srgbClr val="1E3A5F"/>
                </a:solidFill>
                <a:latin typeface="Times New Roman"/>
                <a:ea typeface="Times New Roman"/>
                <a:cs typeface="Times New Roman"/>
              </a:rPr>
              <a:t>What was tested, and what it showed</a:t>
            </a:r>
          </a:p>
        </p:txBody>
      </p:sp>
      <p:sp>
        <p:nvSpPr>
          <p:cNvPr id="4" name="Rectangle 3"/>
          <p:cNvSpPr/>
          <p:nvPr/>
        </p:nvSpPr>
        <p:spPr>
          <a:xfrm>
            <a:off x="438912" y="932688"/>
            <a:ext cx="11301984" cy="15875"/>
          </a:xfrm>
          <a:prstGeom prst="rect">
            <a:avLst/>
          </a:prstGeom>
          <a:solidFill>
            <a:srgbClr val="D5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15568"/>
            <a:ext cx="5806440" cy="4297680"/>
          </a:xfrm>
          <a:prstGeom prst="rect">
            <a:avLst/>
          </a:prstGeom>
          <a:noFill/>
        </p:spPr>
        <p:txBody>
          <a:bodyPr wrap="square" lIns="0" rIns="0" tIns="0" bIns="0"/>
          <a:lstStyle/>
          <a:p>
            <a:pPr algn="l">
              <a:spcBef>
                <a:spcPts val="0"/>
              </a:spcBef>
              <a:spcAft>
                <a:spcPts val="1000"/>
              </a:spcAft>
            </a:pPr>
            <a:r>
              <a:rPr sz="1600" b="0" i="0">
                <a:solidFill>
                  <a:srgbClr val="243140"/>
                </a:solidFill>
                <a:latin typeface="Arial"/>
                <a:ea typeface="Arial"/>
                <a:cs typeface="Arial"/>
              </a:rPr>
              <a:t>Encoded CSMT–Pune corridor model: 192 km.</a:t>
            </a:r>
          </a:p>
          <a:p>
            <a:pPr algn="l">
              <a:spcBef>
                <a:spcPts val="0"/>
              </a:spcBef>
              <a:spcAft>
                <a:spcPts val="1000"/>
              </a:spcAft>
            </a:pPr>
            <a:r>
              <a:rPr sz="1600" b="0" i="0">
                <a:solidFill>
                  <a:srgbClr val="243140"/>
                </a:solidFill>
                <a:latin typeface="Arial"/>
                <a:ea typeface="Arial"/>
                <a:cs typeface="Arial"/>
              </a:rPr>
              <a:t>24-hour working timetable: 170 modelled services.</a:t>
            </a:r>
          </a:p>
          <a:p>
            <a:pPr algn="l">
              <a:spcBef>
                <a:spcPts val="0"/>
              </a:spcBef>
              <a:spcAft>
                <a:spcPts val="1000"/>
              </a:spcAft>
            </a:pPr>
            <a:r>
              <a:rPr sz="1600" b="0" i="0">
                <a:solidFill>
                  <a:srgbClr val="243140"/>
                </a:solidFill>
                <a:latin typeface="Arial"/>
                <a:ea typeface="Arial"/>
                <a:cs typeface="Arial"/>
              </a:rPr>
              <a:t>Encoded demonstration backlog: 14 defects, 11 bundles.</a:t>
            </a:r>
          </a:p>
          <a:p>
            <a:pPr algn="l">
              <a:spcBef>
                <a:spcPts val="0"/>
              </a:spcBef>
              <a:spcAft>
                <a:spcPts val="1000"/>
              </a:spcAft>
            </a:pPr>
            <a:r>
              <a:rPr sz="1600" b="0" i="0">
                <a:solidFill>
                  <a:srgbClr val="243140"/>
                </a:solidFill>
                <a:latin typeface="Arial"/>
                <a:ea typeface="Arial"/>
                <a:cs typeface="Arial"/>
              </a:rPr>
              <a:t>One 7-day run from 24 September 2026 placed 10 of those 14 defects. Four stayed for a later day. An unsafe window was not forced.</a:t>
            </a:r>
          </a:p>
          <a:p>
            <a:pPr algn="l">
              <a:spcBef>
                <a:spcPts val="0"/>
              </a:spcBef>
              <a:spcAft>
                <a:spcPts val="1000"/>
              </a:spcAft>
            </a:pPr>
            <a:r>
              <a:rPr sz="1600" b="0" i="0">
                <a:solidFill>
                  <a:srgbClr val="243140"/>
                </a:solidFill>
                <a:latin typeface="Arial"/>
                <a:ea typeface="Arial"/>
                <a:cs typeface="Arial"/>
              </a:rPr>
              <a:t>Three multi-defect clusters: 450 job-minutes if done separately, 330 when bundled. Saved: 120 minutes (26.7%).</a:t>
            </a:r>
          </a:p>
        </p:txBody>
      </p:sp>
      <p:sp>
        <p:nvSpPr>
          <p:cNvPr id="6" name="Rectangle 5"/>
          <p:cNvSpPr/>
          <p:nvPr/>
        </p:nvSpPr>
        <p:spPr>
          <a:xfrm>
            <a:off x="6400800" y="1115568"/>
            <a:ext cx="534924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207008"/>
            <a:ext cx="5074920" cy="365760"/>
          </a:xfrm>
          <a:prstGeom prst="rect">
            <a:avLst/>
          </a:prstGeom>
          <a:noFill/>
        </p:spPr>
        <p:txBody>
          <a:bodyPr wrap="square" lIns="0" rIns="0" tIns="0" bIns="0" anchor="t"/>
          <a:lstStyle/>
          <a:p>
            <a:pPr algn="l">
              <a:spcBef>
                <a:spcPts val="0"/>
              </a:spcBef>
              <a:spcAft>
                <a:spcPts val="0"/>
              </a:spcAft>
            </a:pPr>
            <a:r>
              <a:rPr sz="1500" b="1" i="0">
                <a:solidFill>
                  <a:srgbClr val="1E3A5F"/>
                </a:solidFill>
                <a:latin typeface="Times New Roman"/>
                <a:ea typeface="Times New Roman"/>
                <a:cs typeface="Times New Roman"/>
              </a:rPr>
              <a:t>Bundled work minutes on the encoded backlog</a:t>
            </a:r>
          </a:p>
        </p:txBody>
      </p:sp>
      <p:graphicFrame>
        <p:nvGraphicFramePr>
          <p:cNvPr id="8" name="Chart 7"/>
          <p:cNvGraphicFramePr>
            <a:graphicFrameLocks noGrp="1"/>
          </p:cNvGraphicFramePr>
          <p:nvPr/>
        </p:nvGraphicFramePr>
        <p:xfrm>
          <a:off x="6537960" y="1600200"/>
          <a:ext cx="5074920" cy="3703320"/>
        </p:xfrm>
        <a:graphic>
          <a:graphicData uri="http://schemas.openxmlformats.org/drawingml/2006/chart">
            <c:chart xmlns:c="http://schemas.openxmlformats.org/drawingml/2006/chart" r:id="rId2"/>
          </a:graphicData>
        </a:graphic>
      </p:graphicFrame>
      <p:sp>
        <p:nvSpPr>
          <p:cNvPr id="9" name="TextBox 8"/>
          <p:cNvSpPr txBox="1"/>
          <p:nvPr/>
        </p:nvSpPr>
        <p:spPr>
          <a:xfrm>
            <a:off x="438912" y="5715000"/>
            <a:ext cx="11247120" cy="685800"/>
          </a:xfrm>
          <a:prstGeom prst="rect">
            <a:avLst/>
          </a:prstGeom>
          <a:noFill/>
        </p:spPr>
        <p:txBody>
          <a:bodyPr wrap="square" lIns="0" rIns="0" tIns="0" bIns="0" anchor="t"/>
          <a:lstStyle/>
          <a:p>
            <a:pPr algn="l">
              <a:spcBef>
                <a:spcPts val="0"/>
              </a:spcBef>
              <a:spcAft>
                <a:spcPts val="0"/>
              </a:spcAft>
            </a:pPr>
            <a:r>
              <a:rPr sz="1400" b="0" i="0">
                <a:solidFill>
                  <a:srgbClr val="243140"/>
                </a:solidFill>
                <a:latin typeface="Arial"/>
                <a:ea typeface="Arial"/>
                <a:cs typeface="Arial"/>
              </a:rPr>
              <a:t>These are prototype simulations on local demo data. They are not divisional operating results. The live console backlog starts empty until a reviewed report is applied.</a:t>
            </a:r>
          </a:p>
        </p:txBody>
      </p:sp>
      <p:sp>
        <p:nvSpPr>
          <p:cNvPr id="10" name="TextBox 9"/>
          <p:cNvSpPr txBox="1"/>
          <p:nvPr/>
        </p:nvSpPr>
        <p:spPr>
          <a:xfrm>
            <a:off x="438912" y="6547104"/>
            <a:ext cx="7863840" cy="219456"/>
          </a:xfrm>
          <a:prstGeom prst="rect">
            <a:avLst/>
          </a:prstGeom>
          <a:noFill/>
        </p:spPr>
        <p:txBody>
          <a:bodyPr wrap="square" lIns="0" rIns="0" tIns="0" bIns="0" anchor="t"/>
          <a:lstStyle/>
          <a:p>
            <a:pPr algn="l">
              <a:spcBef>
                <a:spcPts val="0"/>
              </a:spcBef>
              <a:spcAft>
                <a:spcPts val="0"/>
              </a:spcAft>
            </a:pPr>
            <a:r>
              <a:rPr sz="1100" b="0" i="0">
                <a:solidFill>
                  <a:srgbClr val="5E6A75"/>
                </a:solidFill>
                <a:latin typeface="Arial"/>
                <a:ea typeface="Arial"/>
                <a:cs typeface="Arial"/>
              </a:rPr>
              <a:t>Prototype evidence. Not a live railway deployment.</a:t>
            </a:r>
          </a:p>
        </p:txBody>
      </p:sp>
      <p:sp>
        <p:nvSpPr>
          <p:cNvPr id="11" name="TextBox 10"/>
          <p:cNvSpPr txBox="1"/>
          <p:nvPr/>
        </p:nvSpPr>
        <p:spPr>
          <a:xfrm>
            <a:off x="9509760" y="6547104"/>
            <a:ext cx="2240280" cy="219456"/>
          </a:xfrm>
          <a:prstGeom prst="rect">
            <a:avLst/>
          </a:prstGeom>
          <a:noFill/>
        </p:spPr>
        <p:txBody>
          <a:bodyPr wrap="square" lIns="0" rIns="0" tIns="0" bIns="0" anchor="t"/>
          <a:lstStyle/>
          <a:p>
            <a:pPr algn="r">
              <a:spcBef>
                <a:spcPts val="0"/>
              </a:spcBef>
              <a:spcAft>
                <a:spcPts val="0"/>
              </a:spcAft>
            </a:pPr>
            <a:r>
              <a:rPr sz="1100" b="0" i="0">
                <a:solidFill>
                  <a:srgbClr val="5E6A75"/>
                </a:solidFill>
                <a:latin typeface="Arial"/>
                <a:ea typeface="Arial"/>
                <a:cs typeface="Arial"/>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01168"/>
            <a:ext cx="11247120" cy="219456"/>
          </a:xfrm>
          <a:prstGeom prst="rect">
            <a:avLst/>
          </a:prstGeom>
          <a:noFill/>
        </p:spPr>
        <p:txBody>
          <a:bodyPr wrap="square" lIns="0" rIns="0" tIns="0" bIns="0" anchor="t"/>
          <a:lstStyle/>
          <a:p>
            <a:pPr algn="l">
              <a:spcBef>
                <a:spcPts val="0"/>
              </a:spcBef>
              <a:spcAft>
                <a:spcPts val="0"/>
              </a:spcAft>
            </a:pPr>
            <a:r>
              <a:rPr sz="1200" b="1" i="0">
                <a:solidFill>
                  <a:srgbClr val="0F6E6B"/>
                </a:solidFill>
                <a:latin typeface="Arial"/>
                <a:ea typeface="Arial"/>
                <a:cs typeface="Arial"/>
              </a:rPr>
              <a:t>CONCLUSION</a:t>
            </a:r>
          </a:p>
        </p:txBody>
      </p:sp>
      <p:sp>
        <p:nvSpPr>
          <p:cNvPr id="3" name="TextBox 2"/>
          <p:cNvSpPr txBox="1"/>
          <p:nvPr/>
        </p:nvSpPr>
        <p:spPr>
          <a:xfrm>
            <a:off x="438912" y="402336"/>
            <a:ext cx="11247120" cy="438912"/>
          </a:xfrm>
          <a:prstGeom prst="rect">
            <a:avLst/>
          </a:prstGeom>
          <a:noFill/>
        </p:spPr>
        <p:txBody>
          <a:bodyPr wrap="square" lIns="0" rIns="0" tIns="0" bIns="0" anchor="t"/>
          <a:lstStyle/>
          <a:p>
            <a:pPr algn="l">
              <a:spcBef>
                <a:spcPts val="0"/>
              </a:spcBef>
              <a:spcAft>
                <a:spcPts val="0"/>
              </a:spcAft>
            </a:pPr>
            <a:r>
              <a:rPr sz="2800" b="1" i="0">
                <a:solidFill>
                  <a:srgbClr val="1E3A5F"/>
                </a:solidFill>
                <a:latin typeface="Times New Roman"/>
                <a:ea typeface="Times New Roman"/>
                <a:cs typeface="Times New Roman"/>
              </a:rPr>
              <a:t>What this demonstrates, and what it does not</a:t>
            </a:r>
          </a:p>
        </p:txBody>
      </p:sp>
      <p:sp>
        <p:nvSpPr>
          <p:cNvPr id="4" name="Rectangle 3"/>
          <p:cNvSpPr/>
          <p:nvPr/>
        </p:nvSpPr>
        <p:spPr>
          <a:xfrm>
            <a:off x="438912" y="932688"/>
            <a:ext cx="11301984" cy="15875"/>
          </a:xfrm>
          <a:prstGeom prst="rect">
            <a:avLst/>
          </a:prstGeom>
          <a:solidFill>
            <a:srgbClr val="D5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8912" y="1115568"/>
            <a:ext cx="5669280" cy="2331720"/>
          </a:xfrm>
          <a:prstGeom prst="rect">
            <a:avLst/>
          </a:prstGeom>
          <a:solidFill>
            <a:srgbClr val="E8F6EE"/>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225296"/>
            <a:ext cx="5303520" cy="310896"/>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Contribution</a:t>
            </a:r>
          </a:p>
        </p:txBody>
      </p:sp>
      <p:sp>
        <p:nvSpPr>
          <p:cNvPr id="7" name="TextBox 6"/>
          <p:cNvSpPr txBox="1"/>
          <p:nvPr/>
        </p:nvSpPr>
        <p:spPr>
          <a:xfrm>
            <a:off x="621792" y="1627632"/>
            <a:ext cx="5303520" cy="1691640"/>
          </a:xfrm>
          <a:prstGeom prst="rect">
            <a:avLst/>
          </a:prstGeom>
          <a:noFill/>
        </p:spPr>
        <p:txBody>
          <a:bodyPr wrap="square" lIns="0" rIns="0" tIns="0" bIns="0" anchor="t"/>
          <a:lstStyle/>
          <a:p>
            <a:pPr algn="l">
              <a:spcBef>
                <a:spcPts val="0"/>
              </a:spcBef>
              <a:spcAft>
                <a:spcPts val="0"/>
              </a:spcAft>
            </a:pPr>
            <a:r>
              <a:rPr sz="1500" b="0" i="0">
                <a:solidFill>
                  <a:srgbClr val="243140"/>
                </a:solidFill>
                <a:latin typeface="Arial"/>
                <a:ea typeface="Arial"/>
                <a:cs typeface="Arial"/>
              </a:rPr>
              <a:t>The prototype shows a full path from separate maintenance records to a conflict-checked block: validate, review evidence, score urgency, forecast escalation separately, bundle nearby work, then let CP-SAT search a legal window for a person to sanction.</a:t>
            </a:r>
          </a:p>
        </p:txBody>
      </p:sp>
      <p:sp>
        <p:nvSpPr>
          <p:cNvPr id="8" name="Rectangle 7"/>
          <p:cNvSpPr/>
          <p:nvPr/>
        </p:nvSpPr>
        <p:spPr>
          <a:xfrm>
            <a:off x="6291072" y="1115568"/>
            <a:ext cx="5440680" cy="2331720"/>
          </a:xfrm>
          <a:prstGeom prst="rect">
            <a:avLst/>
          </a:prstGeom>
          <a:solidFill>
            <a:srgbClr val="FBF6EA"/>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225296"/>
            <a:ext cx="5074920" cy="310896"/>
          </a:xfrm>
          <a:prstGeom prst="rect">
            <a:avLst/>
          </a:prstGeom>
          <a:noFill/>
        </p:spPr>
        <p:txBody>
          <a:bodyPr wrap="square" lIns="0" rIns="0" tIns="0" bIns="0" anchor="t"/>
          <a:lstStyle/>
          <a:p>
            <a:pPr algn="l">
              <a:spcBef>
                <a:spcPts val="0"/>
              </a:spcBef>
              <a:spcAft>
                <a:spcPts val="0"/>
              </a:spcAft>
            </a:pPr>
            <a:r>
              <a:rPr sz="1800" b="1" i="0">
                <a:solidFill>
                  <a:srgbClr val="1E3A5F"/>
                </a:solidFill>
                <a:latin typeface="Times New Roman"/>
                <a:ea typeface="Times New Roman"/>
                <a:cs typeface="Times New Roman"/>
              </a:rPr>
              <a:t>Limits and next evidence</a:t>
            </a:r>
          </a:p>
        </p:txBody>
      </p:sp>
      <p:sp>
        <p:nvSpPr>
          <p:cNvPr id="10" name="TextBox 9"/>
          <p:cNvSpPr txBox="1"/>
          <p:nvPr/>
        </p:nvSpPr>
        <p:spPr>
          <a:xfrm>
            <a:off x="6473952" y="1627632"/>
            <a:ext cx="5074920" cy="1691640"/>
          </a:xfrm>
          <a:prstGeom prst="rect">
            <a:avLst/>
          </a:prstGeom>
          <a:noFill/>
        </p:spPr>
        <p:txBody>
          <a:bodyPr wrap="square" lIns="0" rIns="0" tIns="0" bIns="0" anchor="t"/>
          <a:lstStyle/>
          <a:p>
            <a:pPr algn="l">
              <a:spcBef>
                <a:spcPts val="0"/>
              </a:spcBef>
              <a:spcAft>
                <a:spcPts val="0"/>
              </a:spcAft>
            </a:pPr>
            <a:r>
              <a:rPr sz="1500" b="0" i="0">
                <a:solidFill>
                  <a:srgbClr val="243140"/>
                </a:solidFill>
                <a:latin typeface="Arial"/>
                <a:ea typeface="Arial"/>
                <a:cs typeface="Arial"/>
              </a:rPr>
              <a:t>Inputs are local and simulated. AI-1’s ordinary reader is rule-based and misses unfamiliar wording. The forecast is trained on synthetic labels, not real defect histories. A field claim needs authorised feeds and a shadow-mode trial.</a:t>
            </a:r>
          </a:p>
        </p:txBody>
      </p:sp>
      <p:sp>
        <p:nvSpPr>
          <p:cNvPr id="11" name="TextBox 10"/>
          <p:cNvSpPr txBox="1"/>
          <p:nvPr/>
        </p:nvSpPr>
        <p:spPr>
          <a:xfrm>
            <a:off x="438912" y="3703320"/>
            <a:ext cx="11292840" cy="2606040"/>
          </a:xfrm>
          <a:prstGeom prst="rect">
            <a:avLst/>
          </a:prstGeom>
          <a:noFill/>
        </p:spPr>
        <p:txBody>
          <a:bodyPr wrap="square" lIns="0" rIns="0" tIns="0" bIns="0"/>
          <a:lstStyle/>
          <a:p>
            <a:pPr algn="l">
              <a:spcBef>
                <a:spcPts val="0"/>
              </a:spcBef>
              <a:spcAft>
                <a:spcPts val="600"/>
              </a:spcAft>
            </a:pPr>
            <a:r>
              <a:rPr sz="1600" b="0" i="0">
                <a:solidFill>
                  <a:srgbClr val="243140"/>
                </a:solidFill>
                <a:latin typeface="Arial"/>
                <a:ea typeface="Arial"/>
                <a:cs typeface="Arial"/>
              </a:rPr>
              <a:t>[1] Ministry of Railways, SIH 2026 problem statement SIH26027.</a:t>
            </a:r>
          </a:p>
          <a:p>
            <a:pPr algn="l">
              <a:spcBef>
                <a:spcPts val="0"/>
              </a:spcBef>
              <a:spcAft>
                <a:spcPts val="600"/>
              </a:spcAft>
            </a:pPr>
            <a:r>
              <a:rPr sz="1600" b="0" i="0">
                <a:solidFill>
                  <a:srgbClr val="243140"/>
                </a:solidFill>
                <a:latin typeface="Arial"/>
                <a:ea typeface="Arial"/>
                <a:cs typeface="Arial"/>
              </a:rPr>
              <a:t>[2] Lok Sabha Unstarred Question 3976, answered 12 August 2026. Mail/Express punctuality on Indian Railways.</a:t>
            </a:r>
          </a:p>
          <a:p>
            <a:pPr algn="l">
              <a:spcBef>
                <a:spcPts val="0"/>
              </a:spcBef>
              <a:spcAft>
                <a:spcPts val="600"/>
              </a:spcAft>
            </a:pPr>
            <a:r>
              <a:rPr sz="1600" b="0" i="0">
                <a:solidFill>
                  <a:srgbClr val="243140"/>
                </a:solidFill>
                <a:latin typeface="Arial"/>
                <a:ea typeface="Arial"/>
                <a:cs typeface="Arial"/>
              </a:rPr>
              <a:t>[3] Rajya Sabha Starred Question 62, answered 5 December 2025. Rolling Block, Gazette notification 30 November 2023.</a:t>
            </a:r>
          </a:p>
          <a:p>
            <a:pPr algn="l">
              <a:spcBef>
                <a:spcPts val="0"/>
              </a:spcBef>
              <a:spcAft>
                <a:spcPts val="600"/>
              </a:spcAft>
            </a:pPr>
            <a:r>
              <a:rPr sz="1600" b="0" i="0">
                <a:solidFill>
                  <a:srgbClr val="243140"/>
                </a:solidFill>
                <a:latin typeface="Arial"/>
                <a:ea typeface="Arial"/>
                <a:cs typeface="Arial"/>
              </a:rPr>
              <a:t>[4] CAG Report No. 45 of 2017, tabled 13 March 2018. Selected heavy-traffic sections. Historical.</a:t>
            </a:r>
          </a:p>
        </p:txBody>
      </p:sp>
      <p:sp>
        <p:nvSpPr>
          <p:cNvPr id="12" name="TextBox 11"/>
          <p:cNvSpPr txBox="1"/>
          <p:nvPr/>
        </p:nvSpPr>
        <p:spPr>
          <a:xfrm>
            <a:off x="438912" y="6547104"/>
            <a:ext cx="7863840" cy="219456"/>
          </a:xfrm>
          <a:prstGeom prst="rect">
            <a:avLst/>
          </a:prstGeom>
          <a:noFill/>
        </p:spPr>
        <p:txBody>
          <a:bodyPr wrap="square" lIns="0" rIns="0" tIns="0" bIns="0" anchor="t"/>
          <a:lstStyle/>
          <a:p>
            <a:pPr algn="l">
              <a:spcBef>
                <a:spcPts val="0"/>
              </a:spcBef>
              <a:spcAft>
                <a:spcPts val="0"/>
              </a:spcAft>
            </a:pPr>
            <a:r>
              <a:rPr sz="1100" b="0" i="0">
                <a:solidFill>
                  <a:srgbClr val="5E6A75"/>
                </a:solidFill>
                <a:latin typeface="Arial"/>
                <a:ea typeface="Arial"/>
                <a:cs typeface="Arial"/>
              </a:rPr>
              <a:t>Prototype evidence. Not a live railway deployment.</a:t>
            </a:r>
          </a:p>
        </p:txBody>
      </p:sp>
      <p:sp>
        <p:nvSpPr>
          <p:cNvPr id="13" name="TextBox 12"/>
          <p:cNvSpPr txBox="1"/>
          <p:nvPr/>
        </p:nvSpPr>
        <p:spPr>
          <a:xfrm>
            <a:off x="9509760" y="6547104"/>
            <a:ext cx="2240280" cy="219456"/>
          </a:xfrm>
          <a:prstGeom prst="rect">
            <a:avLst/>
          </a:prstGeom>
          <a:noFill/>
        </p:spPr>
        <p:txBody>
          <a:bodyPr wrap="square" lIns="0" rIns="0" tIns="0" bIns="0" anchor="t"/>
          <a:lstStyle/>
          <a:p>
            <a:pPr algn="r">
              <a:spcBef>
                <a:spcPts val="0"/>
              </a:spcBef>
              <a:spcAft>
                <a:spcPts val="0"/>
              </a:spcAft>
            </a:pPr>
            <a:r>
              <a:rPr sz="1100" b="0" i="0">
                <a:solidFill>
                  <a:srgbClr val="5E6A75"/>
                </a:solidFill>
                <a:latin typeface="Arial"/>
                <a:ea typeface="Arial"/>
                <a:cs typeface="Arial"/>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Railway Maintenance Prioritization and Constraint-Based Block Planning for Asset Availability</dc:title>
  <dc:subject>Aavishkar research presentation</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