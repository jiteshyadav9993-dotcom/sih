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6000000" cy="360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216000"/>
            <a:ext cx="35568000" cy="35568000"/>
          </a:xfrm>
          <a:prstGeom prst="rect">
            <a:avLst/>
          </a:prstGeom>
          <a:noFill/>
          <a:ln w="2857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32000"/>
            <a:ext cx="34560000" cy="57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AAVISHKAR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44000"/>
            <a:ext cx="34560000" cy="28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6E6B"/>
                </a:solidFill>
                <a:latin typeface="Arial"/>
                <a:ea typeface="Arial"/>
                <a:cs typeface="Arial"/>
              </a:rPr>
              <a:t>Title of the research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332000"/>
            <a:ext cx="33840000" cy="10079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Integrated Railway Maintenance Prioritization and Constraint-Based Block Planning for Asset Availability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000" y="2412000"/>
            <a:ext cx="11088000" cy="1007999"/>
          </a:xfrm>
          <a:prstGeom prst="rect">
            <a:avLst/>
          </a:prstGeom>
          <a:solidFill>
            <a:srgbClr val="EAF2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6000" y="2466000"/>
            <a:ext cx="10800000" cy="2519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6E6B"/>
                </a:solidFill>
                <a:latin typeface="Arial"/>
                <a:ea typeface="Arial"/>
                <a:cs typeface="Arial"/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2718000"/>
            <a:ext cx="10800000" cy="57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5 — Engineering and Technology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12240000" y="2412000"/>
            <a:ext cx="11088000" cy="1007999"/>
          </a:xfrm>
          <a:prstGeom prst="rect">
            <a:avLst/>
          </a:prstGeom>
          <a:solidFill>
            <a:srgbClr val="EAF2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84000" y="2466000"/>
            <a:ext cx="10800000" cy="2519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6E6B"/>
                </a:solidFill>
                <a:latin typeface="Arial"/>
                <a:ea typeface="Arial"/>
                <a:cs typeface="Arial"/>
              </a:rPr>
              <a:t>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84000" y="2718000"/>
            <a:ext cx="10800000" cy="57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________________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688000" y="2412000"/>
            <a:ext cx="11088000" cy="1007999"/>
          </a:xfrm>
          <a:prstGeom prst="rect">
            <a:avLst/>
          </a:prstGeom>
          <a:solidFill>
            <a:srgbClr val="EAF2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32000" y="2466000"/>
            <a:ext cx="10800000" cy="2519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6E6B"/>
                </a:solidFill>
                <a:latin typeface="Arial"/>
                <a:ea typeface="Arial"/>
                <a:cs typeface="Arial"/>
              </a:rPr>
              <a:t>Slot / Code No.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32000" y="2718000"/>
            <a:ext cx="10800000" cy="57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3636000"/>
            <a:ext cx="16560000" cy="32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3960000"/>
            <a:ext cx="16920000" cy="194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Track, traction, and signalling request blocks separately. Defects sit in TMS, SMMS, and TDMS. Requests go through BDMS. COA holds the corridor, and the working timetable is separate. [1] Mail/Express punctuality on Indian Railways was 73.62% in 2023–24 and 77.12% in 2024–25. Asset maintenance is one stated cause of delay. [2]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360000" y="3636000"/>
            <a:ext cx="16560000" cy="32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Research 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360000" y="3960000"/>
            <a:ext cx="16740000" cy="194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Show one inspectable path from those records to a feasible possession. Urgency, the escalation forecast, and the block decision stay separate. A person still sanctions the window. Rolling Block, notified on 30 November 2023, is the operating idea this lines up with. [3]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00" y="6120000"/>
            <a:ext cx="34848000" cy="9864000"/>
          </a:xfrm>
          <a:prstGeom prst="rect">
            <a:avLst/>
          </a:prstGeom>
          <a:solidFill>
            <a:srgbClr val="F7F9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000" y="6300000"/>
            <a:ext cx="33840000" cy="46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Workflow  ·  source records to a window a person can accept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24000" y="6948000"/>
            <a:ext cx="6336000" cy="1512000"/>
          </a:xfrm>
          <a:prstGeom prst="rect">
            <a:avLst/>
          </a:prstGeom>
          <a:solidFill>
            <a:srgbClr val="EAF2F8"/>
          </a:solidFill>
          <a:ln w="15875">
            <a:solidFill>
              <a:srgbClr val="B7C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24000" y="7020000"/>
            <a:ext cx="6336000" cy="64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TMS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4000" y="7703999"/>
            <a:ext cx="6336000" cy="5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6B7A"/>
                </a:solidFill>
                <a:latin typeface="Arial"/>
                <a:ea typeface="Arial"/>
                <a:cs typeface="Arial"/>
              </a:rPr>
              <a:t>Track defects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92000" y="6948000"/>
            <a:ext cx="6336000" cy="1512000"/>
          </a:xfrm>
          <a:prstGeom prst="rect">
            <a:avLst/>
          </a:prstGeom>
          <a:solidFill>
            <a:srgbClr val="EAF2F8"/>
          </a:solidFill>
          <a:ln w="15875">
            <a:solidFill>
              <a:srgbClr val="B7C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92000" y="7020000"/>
            <a:ext cx="6336000" cy="64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SMMS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2000" y="7703999"/>
            <a:ext cx="6336000" cy="5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6B7A"/>
                </a:solidFill>
                <a:latin typeface="Arial"/>
                <a:ea typeface="Arial"/>
                <a:cs typeface="Arial"/>
              </a:rPr>
              <a:t>Signalling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760000" y="6948000"/>
            <a:ext cx="6336000" cy="1512000"/>
          </a:xfrm>
          <a:prstGeom prst="rect">
            <a:avLst/>
          </a:prstGeom>
          <a:solidFill>
            <a:srgbClr val="EAF2F8"/>
          </a:solidFill>
          <a:ln w="15875">
            <a:solidFill>
              <a:srgbClr val="B7C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760000" y="7020000"/>
            <a:ext cx="6336000" cy="64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TDMS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760000" y="7703999"/>
            <a:ext cx="6336000" cy="5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6B7A"/>
                </a:solidFill>
                <a:latin typeface="Arial"/>
                <a:ea typeface="Arial"/>
                <a:cs typeface="Arial"/>
              </a:rPr>
              <a:t>Traction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528000" y="6948000"/>
            <a:ext cx="6336000" cy="1512000"/>
          </a:xfrm>
          <a:prstGeom prst="rect">
            <a:avLst/>
          </a:prstGeom>
          <a:solidFill>
            <a:srgbClr val="EAF2F8"/>
          </a:solidFill>
          <a:ln w="15875">
            <a:solidFill>
              <a:srgbClr val="B7C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528000" y="7020000"/>
            <a:ext cx="6336000" cy="64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COA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528000" y="7703999"/>
            <a:ext cx="6336000" cy="5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6B7A"/>
                </a:solidFill>
                <a:latin typeface="Arial"/>
                <a:ea typeface="Arial"/>
                <a:cs typeface="Arial"/>
              </a:rPr>
              <a:t>Corridor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296000" y="6948000"/>
            <a:ext cx="6336000" cy="1512000"/>
          </a:xfrm>
          <a:prstGeom prst="rect">
            <a:avLst/>
          </a:prstGeom>
          <a:solidFill>
            <a:srgbClr val="EAF2F8"/>
          </a:solidFill>
          <a:ln w="15875">
            <a:solidFill>
              <a:srgbClr val="B7C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296000" y="7020000"/>
            <a:ext cx="6336000" cy="64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WTT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296000" y="7703999"/>
            <a:ext cx="6336000" cy="5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6B7A"/>
                </a:solidFill>
                <a:latin typeface="Arial"/>
                <a:ea typeface="Arial"/>
                <a:cs typeface="Arial"/>
              </a:rPr>
              <a:t>Timetable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000" y="8568000"/>
            <a:ext cx="33840000" cy="3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E6A75"/>
                </a:solidFill>
                <a:latin typeface="Arial"/>
                <a:ea typeface="Arial"/>
                <a:cs typeface="Arial"/>
              </a:rPr>
              <a:t>Intended feeds. This build uses file readers and an encoded 192 km CSMT–Pune corridor, not live servers.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6000" y="9108000"/>
            <a:ext cx="8208000" cy="2808000"/>
          </a:xfrm>
          <a:prstGeom prst="rect">
            <a:avLst/>
          </a:prstGeom>
          <a:solidFill>
            <a:srgbClr val="FFFFFF"/>
          </a:solidFill>
          <a:ln w="14604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6000" y="9252000"/>
            <a:ext cx="7848000" cy="8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1  Read and 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6000" y="10188000"/>
            <a:ext cx="7848000" cy="154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A bad row is rejected with a reason. The rest of the file still loads.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76000" y="9108000"/>
            <a:ext cx="8208000" cy="2808000"/>
          </a:xfrm>
          <a:prstGeom prst="rect">
            <a:avLst/>
          </a:prstGeom>
          <a:solidFill>
            <a:srgbClr val="FFFFFF"/>
          </a:solidFill>
          <a:ln w="14604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56000" y="9252000"/>
            <a:ext cx="7848000" cy="8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2  AI-1 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6000" y="10188000"/>
            <a:ext cx="7848000" cy="154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Local rules propose a finding. The quote must appear on the page. A person applies ready rows.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16000" y="9108000"/>
            <a:ext cx="8208000" cy="2808000"/>
          </a:xfrm>
          <a:prstGeom prst="rect">
            <a:avLst/>
          </a:prstGeom>
          <a:solidFill>
            <a:srgbClr val="FFFFFF"/>
          </a:solidFill>
          <a:ln w="14604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396000" y="9252000"/>
            <a:ext cx="7848000" cy="8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3  Formula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396000" y="10188000"/>
            <a:ext cx="7848000" cy="154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Explainable urgency from severity, overdue days, a speed restriction, and traffic.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855999" y="9108000"/>
            <a:ext cx="8208000" cy="2808000"/>
          </a:xfrm>
          <a:prstGeom prst="rect">
            <a:avLst/>
          </a:prstGeom>
          <a:solidFill>
            <a:srgbClr val="FFFFFF"/>
          </a:solidFill>
          <a:ln w="14604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35999" y="9252000"/>
            <a:ext cx="7848000" cy="8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4  Days to critical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035999" y="10188000"/>
            <a:ext cx="7848000" cy="154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A separate forecast of days until severity 80. It does not change Formula 1.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56000" y="12204000"/>
            <a:ext cx="8208000" cy="2808000"/>
          </a:xfrm>
          <a:prstGeom prst="rect">
            <a:avLst/>
          </a:prstGeom>
          <a:solidFill>
            <a:srgbClr val="FFFFFF"/>
          </a:solidFill>
          <a:ln w="14604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36000" y="12347999"/>
            <a:ext cx="7848000" cy="8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5  Formula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36000" y="13284000"/>
            <a:ext cx="7848000" cy="154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Same line and feeder, next defect within 3 km, one possession.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896000" y="12204000"/>
            <a:ext cx="8208000" cy="2808000"/>
          </a:xfrm>
          <a:prstGeom prst="rect">
            <a:avLst/>
          </a:prstGeom>
          <a:solidFill>
            <a:srgbClr val="FFFFFF"/>
          </a:solidFill>
          <a:ln w="14604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076000" y="12347999"/>
            <a:ext cx="7848000" cy="8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6  CP-SAT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076000" y="13284000"/>
            <a:ext cx="7848000" cy="154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OR-Tools searches a legal window, or it reports that the window is infeasible.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536000" y="12204000"/>
            <a:ext cx="8208000" cy="2808000"/>
          </a:xfrm>
          <a:prstGeom prst="rect">
            <a:avLst/>
          </a:prstGeom>
          <a:solidFill>
            <a:srgbClr val="FFFFFF"/>
          </a:solidFill>
          <a:ln w="14604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716000" y="12347999"/>
            <a:ext cx="7848000" cy="8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7  Dashboard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716000" y="13284000"/>
            <a:ext cx="7848000" cy="154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Punctuality-First, Asset-First, and Mega-Block. A person sanctions, shifts, or rejects.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4000" y="15264000"/>
            <a:ext cx="33840000" cy="5039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Severity, Formula 1, and the forecast are not added together. AI-1 does not rank the job and does not choose the block.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8000" y="16272000"/>
            <a:ext cx="11232000" cy="8100000"/>
          </a:xfrm>
          <a:prstGeom prst="rect">
            <a:avLst/>
          </a:prstGeom>
          <a:solidFill>
            <a:srgbClr val="E7F4F2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000" y="16452000"/>
            <a:ext cx="10800000" cy="43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What each step adds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4000" y="17028000"/>
            <a:ext cx="10800000" cy="70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Formula 1 is the priority a controller can read: severity, overdue days, a speed restriction, and traffic. The forecast only estimates days until severity reaches 80, and its labels are synthetic. Formula 2 replaces repeated visits with the longest job plus 15 minutes. CP-SAT keeps a train and a gang apart, gives Premium and Superfast trains no induced delay, and caps the model fleet at 1 ballast cleaner, 2 tampers, and 2 tower wagons.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312000" y="16272000"/>
            <a:ext cx="11376000" cy="8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527999" y="16452000"/>
            <a:ext cx="10800000" cy="43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Encoded-backlog result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527999" y="16956000"/>
            <a:ext cx="10800000" cy="3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E6A75"/>
                </a:solidFill>
                <a:latin typeface="Arial"/>
                <a:ea typeface="Arial"/>
                <a:cs typeface="Arial"/>
              </a:rPr>
              <a:t>Job minutes. Not measured train delay.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527999" y="17496000"/>
            <a:ext cx="3060000" cy="5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3A5F"/>
                </a:solidFill>
                <a:latin typeface="Arial"/>
                <a:ea typeface="Arial"/>
                <a:cs typeface="Arial"/>
              </a:rPr>
              <a:t>S1 DN Fast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696000" y="17496000"/>
            <a:ext cx="3996000" cy="450000"/>
          </a:xfrm>
          <a:prstGeom prst="rect">
            <a:avLst/>
          </a:prstGeom>
          <a:solidFill>
            <a:srgbClr val="8A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5696000" y="18036000"/>
            <a:ext cx="2797200" cy="450000"/>
          </a:xfrm>
          <a:prstGeom prst="rect">
            <a:avLst/>
          </a:prstGeom>
          <a:solidFill>
            <a:srgbClr val="1E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9800000" y="17460000"/>
            <a:ext cx="1800000" cy="46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601200" y="18000000"/>
            <a:ext cx="1800000" cy="46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6B45"/>
                </a:solidFill>
                <a:latin typeface="Arial"/>
                <a:ea typeface="Arial"/>
                <a:cs typeface="Arial"/>
              </a:rPr>
              <a:t>105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527999" y="19008000"/>
            <a:ext cx="3060000" cy="5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3A5F"/>
                </a:solidFill>
                <a:latin typeface="Arial"/>
                <a:ea typeface="Arial"/>
                <a:cs typeface="Arial"/>
              </a:rPr>
              <a:t>S2 DN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5696000" y="19008000"/>
            <a:ext cx="4795200" cy="450000"/>
          </a:xfrm>
          <a:prstGeom prst="rect">
            <a:avLst/>
          </a:prstGeom>
          <a:solidFill>
            <a:srgbClr val="8A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5696000" y="19548000"/>
            <a:ext cx="3596400" cy="450000"/>
          </a:xfrm>
          <a:prstGeom prst="rect">
            <a:avLst/>
          </a:prstGeom>
          <a:solidFill>
            <a:srgbClr val="1E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599200" y="18972000"/>
            <a:ext cx="1800000" cy="46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Arial"/>
                <a:cs typeface="Arial"/>
              </a:rPr>
              <a:t>180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400400" y="19512000"/>
            <a:ext cx="1800000" cy="46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6B45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527999" y="20520000"/>
            <a:ext cx="3060000" cy="5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3A5F"/>
                </a:solidFill>
                <a:latin typeface="Arial"/>
                <a:ea typeface="Arial"/>
                <a:cs typeface="Arial"/>
              </a:rPr>
              <a:t>S3 Mid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5696000" y="20520000"/>
            <a:ext cx="3196800" cy="450000"/>
          </a:xfrm>
          <a:prstGeom prst="rect">
            <a:avLst/>
          </a:prstGeom>
          <a:solidFill>
            <a:srgbClr val="8A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5696000" y="21060000"/>
            <a:ext cx="2397600" cy="450000"/>
          </a:xfrm>
          <a:prstGeom prst="rect">
            <a:avLst/>
          </a:prstGeom>
          <a:solidFill>
            <a:srgbClr val="1E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9000800" y="20484000"/>
            <a:ext cx="1800000" cy="46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201600" y="21024000"/>
            <a:ext cx="1800000" cy="46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6B45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527999" y="22104000"/>
            <a:ext cx="10800000" cy="79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Grey: each job alone. Green: one bundle. 450 minutes became 330.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120000" y="16272000"/>
            <a:ext cx="11232000" cy="8100000"/>
          </a:xfrm>
          <a:prstGeom prst="rect">
            <a:avLst/>
          </a:prstGeom>
          <a:solidFill>
            <a:srgbClr val="FBF6EA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4335999" y="16452000"/>
            <a:ext cx="10800000" cy="43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Limits and next step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4335999" y="17028000"/>
            <a:ext cx="10728000" cy="70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This is not a live deployment. The ordinary AI-1 reader matches known phrases and misses unfamiliar wording. The forecast has not been tested on real defect histories: about 1 day of error on a matched synthetic hold-out, and about 3.8 days when that synthetic process changes. Next evidence is authorised feeds, a shadow-mode trial, and a held-out set of real reports.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8000" y="24695999"/>
            <a:ext cx="8424000" cy="2736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92000" y="24875999"/>
            <a:ext cx="8136000" cy="10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192 km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4000" y="26028000"/>
            <a:ext cx="7992000" cy="115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Encoded CSMT–Pune corridor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96000" y="24695999"/>
            <a:ext cx="8424000" cy="2736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540000" y="24875999"/>
            <a:ext cx="8136000" cy="10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170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12000" y="26028000"/>
            <a:ext cx="7992000" cy="115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Services in the 24-hour model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144000" y="24695999"/>
            <a:ext cx="8424000" cy="2736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8288000" y="24875999"/>
            <a:ext cx="8136000" cy="10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10 of 14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360000" y="26028000"/>
            <a:ext cx="7992000" cy="115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Defects placed in one 7-day run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6892000" y="24695999"/>
            <a:ext cx="8424000" cy="2736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7036000" y="24875999"/>
            <a:ext cx="8136000" cy="10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120 min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108000" y="26028000"/>
            <a:ext cx="7992000" cy="115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Saved on three clusters, 26.7%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92000" y="27792000"/>
            <a:ext cx="10800000" cy="3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3A5F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2000" y="28224000"/>
            <a:ext cx="34380000" cy="504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[1] Ministry of Railways, SIH 2026 problem statement SIH26027. Separate TMS, SMMS, and TDMS records; BDMS requests; COA corridor availability.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[2] Lok Sabha Unstarred Question 3976, answered 12 August 2026. Mail/Express punctuality on Indian Railways: 73.62% (2023–24), 77.12% (2024–25), 77.43% (2025–26).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[3] Rajya Sabha Starred Question 62, answered 5 December 2025. Asset maintenance is one stated cause of delay. Rolling Block: Gazette notification 30 November 2023.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[4] CAG Report No. 45 of 2017, tabled 13 March 2018. Selected heavy-traffic sections. On 30 August 2017, Railway Board stated that non-availability of blocks was the main reason for overdue deep screening in those observations. Historical.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92000" y="33552000"/>
            <a:ext cx="34380000" cy="129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43140"/>
                </a:solidFill>
                <a:latin typeface="Arial"/>
                <a:ea typeface="Arial"/>
                <a:cs typeface="Arial"/>
              </a:rPr>
              <a:t>The four figures above were recomputed from the encoded demonstration backlog and the 24-hour timetable model. They are not field operating results. The 7-day run starts on 24 September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Integrated Railway Maintenance Prioritization and Constraint-Based Block Planning for Asset Availability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